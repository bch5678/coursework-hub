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Our goal is to predict in-hospital mortality by combining two MIMIC databases: chest X-rays from MIMIC-CXR, and clinical records from MIMIC-IV. The first challenge is simply linking them. Both databases use the same patient ID, subject_id, and the same date shift for each patient. So for every X-ray study, we look for the hospital admission whose time window contains it. One detail matters here: the window starts at emergency department registration, not at formal admission, because about two-thirds of the X-rays we use were taken in the ED, before the patient was admitted. After matching, we have 1,156 admissions from 651 patients, with 47 in-hospital deaths. For each admission we define a prediction time, t0: the time of its first frontal chest X-ray. Everything the model sees must be known before t0. Then each modality gets its own embedding. On the image side, we take one image per admission — a PA view if available, otherwise AP — and pass it through a frozen, ImageNet-pretrained DenseNet121. That gives a 7-by-7 grid of feature vectors, which we compress with PCA to 64 dimensions. So each X-ray becomes 49 image tokens. On the clinical side, we only use information available at t0: demographics, admission details, prior admissions and comorbidities, and 22 lab tests from the 24 hours before t0. After handling missing values, this becomes a 109-dimensional vector, or 54 tokens — one per feature. [Optional] There is also an optional discharge summary — final diagnoses, procedures, length of stay. Because it is only known at discharge, we use it only to show what leakage would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slide shows the data processing in more detail. On the left is how the cohort was built. The dataset contains 1,000 patients, and 786 of them appear in MIMIC-IV. Across all their admissions there are 64 in-hospital deaths — but many of those admissions have no chest X-ray. Once we require an X-ray inside the admission window, with a frontal view, we are left with 1,156 admissions and 47 deaths. So our effective sample is small, and that shapes every design choice that follows. In the middle is lab coverage: the share of admissions where each lab was measured in the 24 hours before t0. Routine chemistry and blood counts are there about 77% of the time. But lactate is only 27%, troponin 9%, and one in five admissions has no lab at all. So missing data is the normal case, not the exception. On the right is how we handle it. Skewed labs are log-transformed, extreme values are clipped at the 1st and 99th percentiles, and missing values are filled with the median — but we keep a missing indicator, because whether a test was ordered is itself informative. Then everything is standardized. Importantly, all of these statistics are learned from the training rows of each fold only. [Optional] We verified this by changing the test rows and checking that the training features did not change. Finally, leakage control. All features come from before t0, history comes only from earlier admissions, and no patient appears in two folds. We also found and removed one leaking variable: discharge location. Its value "DIED" covered 97% of the deaths — a model using it would simply be reading the answer.</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Now, how do we combine the two embeddings? Our first attempt was to train everything jointly from scratch. That failed in an instructive way: the image branch overfit within a few epochs, early stopping kicked in before the clinical branch had learned anything, and the fused model essentially ignored the clinical data. So we train in two stages. In stage 1, each modality gets its own model, trained and early-stopped separately, then frozen. These are the separate embeddings, 64 dimensions each. In stage 2, we start from late fusion — a learned weighted sum of the two unimodal predictions — and on top of it we learn a residual from an interaction module: concatenation, a gated unit, or bidirectional cross-attention, where clinical tokens attend to image regions and image regions attend to clinical tokens. The residual starts at zero, so the fused model begins exactly at late fusion. The results, from three repeats of 5-fold patient-level cross-validation: clinical data alone gives an AUROC of 0.71, and the X-ray alone 0.79. Combining them reaches about 0.81 — an improvement of 0.10 over clinical data alone, and the confidence interval excludes zero. However, cross-attention only ties with simple late fusion, and a plain logistic regression on the concatenated features does just as well. With only 47 events, the benefit comes from combining the modalities, not from a more complex fusion module. [Optional] As a sanity check: if we add the discharge summary, AUROC jumps to 0.96 — but that is leakage, not prediction. To summarize: we linked the two databases by patient and time, built a separate embedding for each modality, handled missing data carefully inside cross-validation, and used two-stage fusion, which adds about 0.10 AUROC.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628650"/>
          </a:xfrm>
          <a:prstGeom prst="rect">
            <a:avLst/>
          </a:prstGeom>
          <a:noFill/>
        </p:spPr>
        <p:txBody>
          <a:bodyPr wrap="square" lIns="0" tIns="0" rIns="0" bIns="0" rtlCol="0" anchor="t"/>
          <a:lstStyle>
            <a:lvl1pPr marL="0" indent="0" algn="l">
              <a:lnSpc>
                <a:spcPct val="115000"/>
              </a:lnSpc>
              <a:buNone/>
              <a:defRPr lang="en-US" sz="30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p:nvPr>
            <p:ph type="body" idx="101"/>
          </p:nvPr>
        </p:nvSpPr>
        <p:spPr>
          <a:xfrm>
            <a:off x="812800" y="1644650"/>
            <a:ext cx="10566400" cy="4400550"/>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628650"/>
          </a:xfrm>
          <a:prstGeom prst="rect">
            <a:avLst/>
          </a:prstGeom>
          <a:noFill/>
        </p:spPr>
        <p:txBody>
          <a:bodyPr wrap="square" lIns="0" tIns="0" rIns="0" bIns="0" rtlCol="0" anchor="t"/>
          <a:lstStyle>
            <a:lvl1pPr marL="0" indent="0" algn="l">
              <a:lnSpc>
                <a:spcPct val="115000"/>
              </a:lnSpc>
              <a:buNone/>
              <a:defRPr lang="en-US" sz="30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p:nvPr>
            <p:ph type="body" idx="101"/>
          </p:nvPr>
        </p:nvSpPr>
        <p:spPr>
          <a:xfrm>
            <a:off x="812800" y="1644650"/>
            <a:ext cx="10566400" cy="4400550"/>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Times New Roman" panose="02020603050405020304" charset="0"/>
                <a:ea typeface="IBM Plex Sans" pitchFamily="34" charset="-122"/>
                <a:cs typeface="Times New Roman" panose="02020603050405020304" charset="0"/>
              </a:rPr>
              <a:t>Data integration (1): one embedding per modality</a:t>
            </a:r>
            <a:endParaRPr lang="en-US" sz="3000" b="1" i="0" dirty="0">
              <a:solidFill>
                <a:srgbClr val="14213D"/>
              </a:solidFill>
              <a:latin typeface="Times New Roman" panose="02020603050405020304" charset="0"/>
              <a:ea typeface="IBM Plex Sans" pitchFamily="34" charset="-122"/>
              <a:cs typeface="Times New Roman" panose="02020603050405020304" charset="0"/>
            </a:endParaRPr>
          </a:p>
        </p:txBody>
      </p:sp>
      <p:sp>
        <p:nvSpPr>
          <p:cNvPr id="3" name="Shape 1"/>
          <p:cNvSpPr/>
          <p:nvPr/>
        </p:nvSpPr>
        <p:spPr>
          <a:xfrm>
            <a:off x="812800" y="1282700"/>
            <a:ext cx="10566400" cy="763270"/>
          </a:xfrm>
          <a:prstGeom prst="roundRect">
            <a:avLst>
              <a:gd name="adj" fmla="val 13311"/>
            </a:avLst>
          </a:prstGeom>
          <a:solidFill>
            <a:srgbClr val="14213D"/>
          </a:solidFill>
        </p:spPr>
      </p:sp>
      <p:sp>
        <p:nvSpPr>
          <p:cNvPr id="4" name="Text 2"/>
          <p:cNvSpPr/>
          <p:nvPr/>
        </p:nvSpPr>
        <p:spPr>
          <a:xfrm>
            <a:off x="1041400" y="1422400"/>
            <a:ext cx="10412476" cy="265430"/>
          </a:xfrm>
          <a:prstGeom prst="rect">
            <a:avLst/>
          </a:prstGeom>
          <a:noFill/>
        </p:spPr>
        <p:txBody>
          <a:bodyPr wrap="square" lIns="0" tIns="0" rIns="0" bIns="0" rtlCol="0" anchor="t">
            <a:normAutofit/>
          </a:bodyPr>
          <a:lstStyle/>
          <a:p>
            <a:pPr marL="0" indent="0" algn="l">
              <a:lnSpc>
                <a:spcPts val="1890"/>
              </a:lnSpc>
              <a:buNone/>
            </a:pPr>
            <a:r>
              <a:rPr lang="en-US" sz="1400" b="1" dirty="0">
                <a:solidFill>
                  <a:srgbClr val="F7F6F2"/>
                </a:solidFill>
                <a:latin typeface="Times New Roman" panose="02020603050405020304" charset="0"/>
                <a:ea typeface="IBM Plex Sans" pitchFamily="34" charset="-122"/>
                <a:cs typeface="Times New Roman" panose="02020603050405020304" charset="0"/>
              </a:rPr>
              <a:t>Matched by subject_id + time window</a:t>
            </a:r>
            <a:r>
              <a:rPr lang="en-US" sz="1400" dirty="0">
                <a:solidFill>
                  <a:srgbClr val="F7F6F2"/>
                </a:solidFill>
                <a:latin typeface="Times New Roman" panose="02020603050405020304" charset="0"/>
                <a:ea typeface="IBM Plex Sans" pitchFamily="34" charset="-122"/>
                <a:cs typeface="Times New Roman" panose="02020603050405020304" charset="0"/>
              </a:rPr>
              <a:t> → </a:t>
            </a:r>
            <a:r>
              <a:rPr lang="en-US" sz="1400" b="1" dirty="0">
                <a:solidFill>
                  <a:srgbClr val="F7F6F2"/>
                </a:solidFill>
                <a:latin typeface="Times New Roman" panose="02020603050405020304" charset="0"/>
                <a:ea typeface="IBM Plex Sans" pitchFamily="34" charset="-122"/>
                <a:cs typeface="Times New Roman" panose="02020603050405020304" charset="0"/>
              </a:rPr>
              <a:t>1,156 admissions · 651 patients · 47 in-hospital deaths</a:t>
            </a:r>
            <a:endParaRPr lang="en-US" sz="1400" dirty="0">
              <a:latin typeface="Times New Roman" panose="02020603050405020304" charset="0"/>
              <a:cs typeface="Times New Roman" panose="02020603050405020304" charset="0"/>
            </a:endParaRPr>
          </a:p>
        </p:txBody>
      </p:sp>
      <p:sp>
        <p:nvSpPr>
          <p:cNvPr id="5" name="Text 3"/>
          <p:cNvSpPr/>
          <p:nvPr/>
        </p:nvSpPr>
        <p:spPr>
          <a:xfrm>
            <a:off x="1041400" y="1700530"/>
            <a:ext cx="10412476" cy="23114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C9D3E3"/>
                </a:solidFill>
                <a:latin typeface="Times New Roman" panose="02020603050405020304" charset="0"/>
                <a:ea typeface="IBM Plex Sans" pitchFamily="34" charset="-122"/>
                <a:cs typeface="Times New Roman" panose="02020603050405020304" charset="0"/>
              </a:rPr>
              <a:t>Prediction time t0 = the admission's first frontal chest X-ray; clinical features must precede t0</a:t>
            </a:r>
            <a:endParaRPr lang="en-US" sz="1200" dirty="0">
              <a:solidFill>
                <a:srgbClr val="C9D3E3"/>
              </a:solidFill>
              <a:latin typeface="Times New Roman" panose="02020603050405020304" charset="0"/>
              <a:ea typeface="IBM Plex Sans" pitchFamily="34" charset="-122"/>
              <a:cs typeface="Times New Roman" panose="02020603050405020304" charset="0"/>
            </a:endParaRPr>
          </a:p>
        </p:txBody>
      </p:sp>
      <p:sp>
        <p:nvSpPr>
          <p:cNvPr id="6" name="Text 4"/>
          <p:cNvSpPr/>
          <p:nvPr/>
        </p:nvSpPr>
        <p:spPr>
          <a:xfrm>
            <a:off x="812800" y="2198370"/>
            <a:ext cx="10883392" cy="25654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B5F97"/>
                </a:solidFill>
                <a:latin typeface="Times New Roman" panose="02020603050405020304" charset="0"/>
                <a:ea typeface="IBM Plex Sans" pitchFamily="34" charset="-122"/>
                <a:cs typeface="Times New Roman" panose="02020603050405020304" charset="0"/>
              </a:rPr>
              <a:t>Image branch · MIMIC-CXR</a:t>
            </a:r>
            <a:endParaRPr lang="en-US" sz="1300" b="1" dirty="0">
              <a:solidFill>
                <a:srgbClr val="2B5F97"/>
              </a:solidFill>
              <a:latin typeface="Times New Roman" panose="02020603050405020304" charset="0"/>
              <a:ea typeface="IBM Plex Sans" pitchFamily="34" charset="-122"/>
              <a:cs typeface="Times New Roman" panose="02020603050405020304" charset="0"/>
            </a:endParaRPr>
          </a:p>
        </p:txBody>
      </p:sp>
      <p:sp>
        <p:nvSpPr>
          <p:cNvPr id="7" name="Shape 5"/>
          <p:cNvSpPr/>
          <p:nvPr/>
        </p:nvSpPr>
        <p:spPr>
          <a:xfrm>
            <a:off x="819150" y="2499360"/>
            <a:ext cx="2343150" cy="1104900"/>
          </a:xfrm>
          <a:prstGeom prst="roundRect">
            <a:avLst>
              <a:gd name="adj" fmla="val 7471"/>
            </a:avLst>
          </a:prstGeom>
          <a:solidFill>
            <a:srgbClr val="FDFCF9"/>
          </a:solidFill>
          <a:ln w="12700">
            <a:solidFill>
              <a:srgbClr val="2B5F97"/>
            </a:solidFill>
            <a:prstDash val="solid"/>
          </a:ln>
        </p:spPr>
      </p:sp>
      <p:sp>
        <p:nvSpPr>
          <p:cNvPr id="8" name="Text 6"/>
          <p:cNvSpPr/>
          <p:nvPr/>
        </p:nvSpPr>
        <p:spPr>
          <a:xfrm>
            <a:off x="962660" y="261747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4213D"/>
                </a:solidFill>
                <a:latin typeface="Times New Roman" panose="02020603050405020304" charset="0"/>
                <a:ea typeface="IBM Plex Sans" pitchFamily="34" charset="-122"/>
                <a:cs typeface="Times New Roman" panose="02020603050405020304" charset="0"/>
              </a:rPr>
              <a:t>Raw data</a:t>
            </a:r>
            <a:endParaRPr lang="en-US" sz="14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9" name="Text 7"/>
          <p:cNvSpPr/>
          <p:nvPr/>
        </p:nvSpPr>
        <p:spPr>
          <a:xfrm>
            <a:off x="962660" y="2868930"/>
            <a:ext cx="2117814" cy="43688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5,534 DICOM images, 1,000 patients</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10" name="Image 0" descr="arrow-right"/>
          <p:cNvPicPr>
            <a:picLocks noChangeAspect="1"/>
          </p:cNvPicPr>
          <p:nvPr/>
        </p:nvPicPr>
        <p:blipFill>
          <a:blip r:embed="rId1"/>
          <a:srcRect/>
          <a:stretch>
            <a:fillRect/>
          </a:stretch>
        </p:blipFill>
        <p:spPr>
          <a:xfrm>
            <a:off x="3244850" y="2988310"/>
            <a:ext cx="228600" cy="127000"/>
          </a:xfrm>
          <a:prstGeom prst="rect">
            <a:avLst/>
          </a:prstGeom>
        </p:spPr>
      </p:pic>
      <p:sp>
        <p:nvSpPr>
          <p:cNvPr id="11" name="Shape 8"/>
          <p:cNvSpPr/>
          <p:nvPr/>
        </p:nvSpPr>
        <p:spPr>
          <a:xfrm>
            <a:off x="3556000" y="2499360"/>
            <a:ext cx="2343150" cy="1104900"/>
          </a:xfrm>
          <a:prstGeom prst="roundRect">
            <a:avLst>
              <a:gd name="adj" fmla="val 7471"/>
            </a:avLst>
          </a:prstGeom>
          <a:solidFill>
            <a:srgbClr val="FDFCF9"/>
          </a:solidFill>
          <a:ln w="12700">
            <a:solidFill>
              <a:srgbClr val="2B5F97"/>
            </a:solidFill>
            <a:prstDash val="solid"/>
          </a:ln>
        </p:spPr>
      </p:sp>
      <p:sp>
        <p:nvSpPr>
          <p:cNvPr id="12" name="Text 9"/>
          <p:cNvSpPr/>
          <p:nvPr/>
        </p:nvSpPr>
        <p:spPr>
          <a:xfrm>
            <a:off x="3699510" y="261747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4213D"/>
                </a:solidFill>
                <a:latin typeface="Times New Roman" panose="02020603050405020304" charset="0"/>
                <a:ea typeface="IBM Plex Sans" pitchFamily="34" charset="-122"/>
                <a:cs typeface="Times New Roman" panose="02020603050405020304" charset="0"/>
              </a:rPr>
              <a:t>Image selection</a:t>
            </a:r>
            <a:endParaRPr lang="en-US" sz="14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13" name="Text 10"/>
          <p:cNvSpPr/>
          <p:nvPr/>
        </p:nvSpPr>
        <p:spPr>
          <a:xfrm>
            <a:off x="3699510" y="2868930"/>
            <a:ext cx="2117814" cy="64262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First frontal study per admission; PA preferred over AP</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14" name="Image 1" descr="arrow-right"/>
          <p:cNvPicPr>
            <a:picLocks noChangeAspect="1"/>
          </p:cNvPicPr>
          <p:nvPr/>
        </p:nvPicPr>
        <p:blipFill>
          <a:blip r:embed="rId1"/>
          <a:srcRect/>
          <a:stretch>
            <a:fillRect/>
          </a:stretch>
        </p:blipFill>
        <p:spPr>
          <a:xfrm>
            <a:off x="5981700" y="2988310"/>
            <a:ext cx="228600" cy="127000"/>
          </a:xfrm>
          <a:prstGeom prst="rect">
            <a:avLst/>
          </a:prstGeom>
        </p:spPr>
      </p:pic>
      <p:sp>
        <p:nvSpPr>
          <p:cNvPr id="15" name="Shape 11"/>
          <p:cNvSpPr/>
          <p:nvPr/>
        </p:nvSpPr>
        <p:spPr>
          <a:xfrm>
            <a:off x="6292850" y="2499360"/>
            <a:ext cx="2343150" cy="1104900"/>
          </a:xfrm>
          <a:prstGeom prst="roundRect">
            <a:avLst>
              <a:gd name="adj" fmla="val 7471"/>
            </a:avLst>
          </a:prstGeom>
          <a:solidFill>
            <a:srgbClr val="FDFCF9"/>
          </a:solidFill>
          <a:ln w="12700">
            <a:solidFill>
              <a:srgbClr val="2B5F97"/>
            </a:solidFill>
            <a:prstDash val="solid"/>
          </a:ln>
        </p:spPr>
      </p:sp>
      <p:sp>
        <p:nvSpPr>
          <p:cNvPr id="16" name="Text 12"/>
          <p:cNvSpPr/>
          <p:nvPr/>
        </p:nvSpPr>
        <p:spPr>
          <a:xfrm>
            <a:off x="6436360" y="261747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4213D"/>
                </a:solidFill>
                <a:latin typeface="Times New Roman" panose="02020603050405020304" charset="0"/>
                <a:ea typeface="IBM Plex Sans" pitchFamily="34" charset="-122"/>
                <a:cs typeface="Times New Roman" panose="02020603050405020304" charset="0"/>
              </a:rPr>
              <a:t>Frozen backbone</a:t>
            </a:r>
            <a:endParaRPr lang="en-US" sz="14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17" name="Text 13"/>
          <p:cNvSpPr/>
          <p:nvPr/>
        </p:nvSpPr>
        <p:spPr>
          <a:xfrm>
            <a:off x="6436360" y="2868930"/>
            <a:ext cx="2117814" cy="43688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DenseNet121 (ImageNet) → 7×7×1024 spatial tokens</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18" name="Image 2" descr="arrow-right"/>
          <p:cNvPicPr>
            <a:picLocks noChangeAspect="1"/>
          </p:cNvPicPr>
          <p:nvPr/>
        </p:nvPicPr>
        <p:blipFill>
          <a:blip r:embed="rId1"/>
          <a:srcRect/>
          <a:stretch>
            <a:fillRect/>
          </a:stretch>
        </p:blipFill>
        <p:spPr>
          <a:xfrm>
            <a:off x="8718550" y="2988310"/>
            <a:ext cx="228600" cy="127000"/>
          </a:xfrm>
          <a:prstGeom prst="rect">
            <a:avLst/>
          </a:prstGeom>
        </p:spPr>
      </p:pic>
      <p:sp>
        <p:nvSpPr>
          <p:cNvPr id="19" name="Shape 14"/>
          <p:cNvSpPr/>
          <p:nvPr/>
        </p:nvSpPr>
        <p:spPr>
          <a:xfrm>
            <a:off x="9029700" y="2499360"/>
            <a:ext cx="2343150" cy="1104900"/>
          </a:xfrm>
          <a:prstGeom prst="roundRect">
            <a:avLst>
              <a:gd name="adj" fmla="val 7471"/>
            </a:avLst>
          </a:prstGeom>
          <a:solidFill>
            <a:srgbClr val="2B5F97"/>
          </a:solidFill>
          <a:ln w="12700">
            <a:solidFill>
              <a:srgbClr val="2B5F97"/>
            </a:solidFill>
            <a:prstDash val="solid"/>
          </a:ln>
        </p:spPr>
      </p:sp>
      <p:sp>
        <p:nvSpPr>
          <p:cNvPr id="20" name="Text 15"/>
          <p:cNvSpPr/>
          <p:nvPr/>
        </p:nvSpPr>
        <p:spPr>
          <a:xfrm>
            <a:off x="9173210" y="261747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F7F6F2"/>
                </a:solidFill>
                <a:latin typeface="Times New Roman" panose="02020603050405020304" charset="0"/>
                <a:ea typeface="IBM Plex Sans" pitchFamily="34" charset="-122"/>
                <a:cs typeface="Times New Roman" panose="02020603050405020304" charset="0"/>
              </a:rPr>
              <a:t>Image embedding</a:t>
            </a:r>
            <a:endParaRPr lang="en-US" sz="1400" b="1" dirty="0">
              <a:solidFill>
                <a:srgbClr val="F7F6F2"/>
              </a:solidFill>
              <a:latin typeface="Times New Roman" panose="02020603050405020304" charset="0"/>
              <a:ea typeface="IBM Plex Sans" pitchFamily="34" charset="-122"/>
              <a:cs typeface="Times New Roman" panose="02020603050405020304" charset="0"/>
            </a:endParaRPr>
          </a:p>
        </p:txBody>
      </p:sp>
      <p:sp>
        <p:nvSpPr>
          <p:cNvPr id="21" name="Text 16"/>
          <p:cNvSpPr/>
          <p:nvPr/>
        </p:nvSpPr>
        <p:spPr>
          <a:xfrm>
            <a:off x="9173210" y="2868930"/>
            <a:ext cx="2117814" cy="43688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E3ECF6"/>
                </a:solidFill>
                <a:latin typeface="Times New Roman" panose="02020603050405020304" charset="0"/>
                <a:ea typeface="IBM Plex Sans" pitchFamily="34" charset="-122"/>
                <a:cs typeface="Times New Roman" panose="02020603050405020304" charset="0"/>
              </a:rPr>
              <a:t>PCA to 64-d: 49 tokens; their mean is a 64-d vector</a:t>
            </a:r>
            <a:endParaRPr lang="en-US" sz="1200" dirty="0">
              <a:solidFill>
                <a:srgbClr val="E3ECF6"/>
              </a:solidFill>
              <a:latin typeface="Times New Roman" panose="02020603050405020304" charset="0"/>
              <a:ea typeface="IBM Plex Sans" pitchFamily="34" charset="-122"/>
              <a:cs typeface="Times New Roman" panose="02020603050405020304" charset="0"/>
            </a:endParaRPr>
          </a:p>
        </p:txBody>
      </p:sp>
      <p:sp>
        <p:nvSpPr>
          <p:cNvPr id="22" name="Text 17"/>
          <p:cNvSpPr/>
          <p:nvPr/>
        </p:nvSpPr>
        <p:spPr>
          <a:xfrm>
            <a:off x="812800" y="3763010"/>
            <a:ext cx="10883392" cy="25654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9C4F14"/>
                </a:solidFill>
                <a:latin typeface="Times New Roman" panose="02020603050405020304" charset="0"/>
                <a:ea typeface="IBM Plex Sans" pitchFamily="34" charset="-122"/>
                <a:cs typeface="Times New Roman" panose="02020603050405020304" charset="0"/>
              </a:rPr>
              <a:t>Clinical branch · MIMIC-IV</a:t>
            </a:r>
            <a:endParaRPr lang="en-US" sz="1300" b="1" dirty="0">
              <a:solidFill>
                <a:srgbClr val="9C4F14"/>
              </a:solidFill>
              <a:latin typeface="Times New Roman" panose="02020603050405020304" charset="0"/>
              <a:ea typeface="IBM Plex Sans" pitchFamily="34" charset="-122"/>
              <a:cs typeface="Times New Roman" panose="02020603050405020304" charset="0"/>
            </a:endParaRPr>
          </a:p>
        </p:txBody>
      </p:sp>
      <p:sp>
        <p:nvSpPr>
          <p:cNvPr id="23" name="Shape 18"/>
          <p:cNvSpPr/>
          <p:nvPr/>
        </p:nvSpPr>
        <p:spPr>
          <a:xfrm>
            <a:off x="819150" y="4064000"/>
            <a:ext cx="2343150" cy="899160"/>
          </a:xfrm>
          <a:prstGeom prst="roundRect">
            <a:avLst>
              <a:gd name="adj" fmla="val 9181"/>
            </a:avLst>
          </a:prstGeom>
          <a:solidFill>
            <a:srgbClr val="FDFCF9"/>
          </a:solidFill>
          <a:ln w="12700">
            <a:solidFill>
              <a:srgbClr val="9C4F14"/>
            </a:solidFill>
            <a:prstDash val="solid"/>
          </a:ln>
        </p:spPr>
      </p:sp>
      <p:sp>
        <p:nvSpPr>
          <p:cNvPr id="24" name="Text 19"/>
          <p:cNvSpPr/>
          <p:nvPr/>
        </p:nvSpPr>
        <p:spPr>
          <a:xfrm>
            <a:off x="962660" y="418211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4213D"/>
                </a:solidFill>
                <a:latin typeface="Times New Roman" panose="02020603050405020304" charset="0"/>
                <a:ea typeface="IBM Plex Sans" pitchFamily="34" charset="-122"/>
                <a:cs typeface="Times New Roman" panose="02020603050405020304" charset="0"/>
              </a:rPr>
              <a:t>Raw data</a:t>
            </a:r>
            <a:endParaRPr lang="en-US" sz="14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25" name="Text 20"/>
          <p:cNvSpPr/>
          <p:nvPr/>
        </p:nvSpPr>
        <p:spPr>
          <a:xfrm>
            <a:off x="962660" y="4433570"/>
            <a:ext cx="2117814" cy="43688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Admissions, patients, diagnoses and lab tables</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26" name="Image 3" descr="arrow-right"/>
          <p:cNvPicPr>
            <a:picLocks noChangeAspect="1"/>
          </p:cNvPicPr>
          <p:nvPr/>
        </p:nvPicPr>
        <p:blipFill>
          <a:blip r:embed="rId2"/>
          <a:srcRect/>
          <a:stretch>
            <a:fillRect/>
          </a:stretch>
        </p:blipFill>
        <p:spPr>
          <a:xfrm>
            <a:off x="3244850" y="4450080"/>
            <a:ext cx="228600" cy="127000"/>
          </a:xfrm>
          <a:prstGeom prst="rect">
            <a:avLst/>
          </a:prstGeom>
        </p:spPr>
      </p:pic>
      <p:sp>
        <p:nvSpPr>
          <p:cNvPr id="27" name="Shape 21"/>
          <p:cNvSpPr/>
          <p:nvPr/>
        </p:nvSpPr>
        <p:spPr>
          <a:xfrm>
            <a:off x="3556000" y="4064000"/>
            <a:ext cx="2343150" cy="899160"/>
          </a:xfrm>
          <a:prstGeom prst="roundRect">
            <a:avLst>
              <a:gd name="adj" fmla="val 9181"/>
            </a:avLst>
          </a:prstGeom>
          <a:solidFill>
            <a:srgbClr val="FDFCF9"/>
          </a:solidFill>
          <a:ln w="12700">
            <a:solidFill>
              <a:srgbClr val="9C4F14"/>
            </a:solidFill>
            <a:prstDash val="solid"/>
          </a:ln>
        </p:spPr>
      </p:sp>
      <p:sp>
        <p:nvSpPr>
          <p:cNvPr id="28" name="Text 22"/>
          <p:cNvSpPr/>
          <p:nvPr/>
        </p:nvSpPr>
        <p:spPr>
          <a:xfrm>
            <a:off x="3699510" y="418211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4213D"/>
                </a:solidFill>
                <a:latin typeface="Times New Roman" panose="02020603050405020304" charset="0"/>
                <a:ea typeface="IBM Plex Sans" pitchFamily="34" charset="-122"/>
                <a:cs typeface="Times New Roman" panose="02020603050405020304" charset="0"/>
              </a:rPr>
              <a:t>Features at t0</a:t>
            </a:r>
            <a:endParaRPr lang="en-US" sz="14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29" name="Text 23"/>
          <p:cNvSpPr/>
          <p:nvPr/>
        </p:nvSpPr>
        <p:spPr>
          <a:xfrm>
            <a:off x="3699510" y="4433570"/>
            <a:ext cx="2117814" cy="43688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Demographics, admission, history and Charlson, 22 labs</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30" name="Image 4" descr="arrow-right"/>
          <p:cNvPicPr>
            <a:picLocks noChangeAspect="1"/>
          </p:cNvPicPr>
          <p:nvPr/>
        </p:nvPicPr>
        <p:blipFill>
          <a:blip r:embed="rId2"/>
          <a:srcRect/>
          <a:stretch>
            <a:fillRect/>
          </a:stretch>
        </p:blipFill>
        <p:spPr>
          <a:xfrm>
            <a:off x="5981700" y="4450080"/>
            <a:ext cx="228600" cy="127000"/>
          </a:xfrm>
          <a:prstGeom prst="rect">
            <a:avLst/>
          </a:prstGeom>
        </p:spPr>
      </p:pic>
      <p:sp>
        <p:nvSpPr>
          <p:cNvPr id="31" name="Shape 24"/>
          <p:cNvSpPr/>
          <p:nvPr/>
        </p:nvSpPr>
        <p:spPr>
          <a:xfrm>
            <a:off x="6292850" y="4064000"/>
            <a:ext cx="2343150" cy="899160"/>
          </a:xfrm>
          <a:prstGeom prst="roundRect">
            <a:avLst>
              <a:gd name="adj" fmla="val 9181"/>
            </a:avLst>
          </a:prstGeom>
          <a:solidFill>
            <a:srgbClr val="FDFCF9"/>
          </a:solidFill>
          <a:ln w="12700">
            <a:solidFill>
              <a:srgbClr val="9C4F14"/>
            </a:solidFill>
            <a:prstDash val="solid"/>
          </a:ln>
        </p:spPr>
      </p:sp>
      <p:sp>
        <p:nvSpPr>
          <p:cNvPr id="32" name="Text 25"/>
          <p:cNvSpPr/>
          <p:nvPr/>
        </p:nvSpPr>
        <p:spPr>
          <a:xfrm>
            <a:off x="6436360" y="418211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4213D"/>
                </a:solidFill>
                <a:latin typeface="Times New Roman" panose="02020603050405020304" charset="0"/>
                <a:ea typeface="IBM Plex Sans" pitchFamily="34" charset="-122"/>
                <a:cs typeface="Times New Roman" panose="02020603050405020304" charset="0"/>
              </a:rPr>
              <a:t>Missing values</a:t>
            </a:r>
            <a:endParaRPr lang="en-US" sz="14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33" name="Text 26"/>
          <p:cNvSpPr/>
          <p:nvPr/>
        </p:nvSpPr>
        <p:spPr>
          <a:xfrm>
            <a:off x="6436360" y="4433570"/>
            <a:ext cx="2117814" cy="43688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log, winsorize, median impute + missing mask, z-score</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34" name="Image 5" descr="arrow-right"/>
          <p:cNvPicPr>
            <a:picLocks noChangeAspect="1"/>
          </p:cNvPicPr>
          <p:nvPr/>
        </p:nvPicPr>
        <p:blipFill>
          <a:blip r:embed="rId2"/>
          <a:srcRect/>
          <a:stretch>
            <a:fillRect/>
          </a:stretch>
        </p:blipFill>
        <p:spPr>
          <a:xfrm>
            <a:off x="8718550" y="4450080"/>
            <a:ext cx="228600" cy="127000"/>
          </a:xfrm>
          <a:prstGeom prst="rect">
            <a:avLst/>
          </a:prstGeom>
        </p:spPr>
      </p:pic>
      <p:sp>
        <p:nvSpPr>
          <p:cNvPr id="35" name="Shape 27"/>
          <p:cNvSpPr/>
          <p:nvPr/>
        </p:nvSpPr>
        <p:spPr>
          <a:xfrm>
            <a:off x="9029700" y="4064000"/>
            <a:ext cx="2343150" cy="899160"/>
          </a:xfrm>
          <a:prstGeom prst="roundRect">
            <a:avLst>
              <a:gd name="adj" fmla="val 9181"/>
            </a:avLst>
          </a:prstGeom>
          <a:solidFill>
            <a:srgbClr val="9C4F14"/>
          </a:solidFill>
          <a:ln w="12700">
            <a:solidFill>
              <a:srgbClr val="9C4F14"/>
            </a:solidFill>
            <a:prstDash val="solid"/>
          </a:ln>
        </p:spPr>
      </p:sp>
      <p:sp>
        <p:nvSpPr>
          <p:cNvPr id="36" name="Text 28"/>
          <p:cNvSpPr/>
          <p:nvPr/>
        </p:nvSpPr>
        <p:spPr>
          <a:xfrm>
            <a:off x="9173210" y="4182110"/>
            <a:ext cx="2117814"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F7F6F2"/>
                </a:solidFill>
                <a:latin typeface="Times New Roman" panose="02020603050405020304" charset="0"/>
                <a:ea typeface="IBM Plex Sans" pitchFamily="34" charset="-122"/>
                <a:cs typeface="Times New Roman" panose="02020603050405020304" charset="0"/>
              </a:rPr>
              <a:t>Clinical embedding</a:t>
            </a:r>
            <a:endParaRPr lang="en-US" sz="1400" b="1" dirty="0">
              <a:solidFill>
                <a:srgbClr val="F7F6F2"/>
              </a:solidFill>
              <a:latin typeface="Times New Roman" panose="02020603050405020304" charset="0"/>
              <a:ea typeface="IBM Plex Sans" pitchFamily="34" charset="-122"/>
              <a:cs typeface="Times New Roman" panose="02020603050405020304" charset="0"/>
            </a:endParaRPr>
          </a:p>
        </p:txBody>
      </p:sp>
      <p:sp>
        <p:nvSpPr>
          <p:cNvPr id="37" name="Text 29"/>
          <p:cNvSpPr/>
          <p:nvPr/>
        </p:nvSpPr>
        <p:spPr>
          <a:xfrm>
            <a:off x="9173210" y="4433570"/>
            <a:ext cx="2117814" cy="43688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F6E7DA"/>
                </a:solidFill>
                <a:latin typeface="Times New Roman" panose="02020603050405020304" charset="0"/>
                <a:ea typeface="IBM Plex Sans" pitchFamily="34" charset="-122"/>
                <a:cs typeface="Times New Roman" panose="02020603050405020304" charset="0"/>
              </a:rPr>
              <a:t>109-d input vector; one token per feature (54 tokens)</a:t>
            </a:r>
            <a:endParaRPr lang="en-US" sz="1200" dirty="0">
              <a:solidFill>
                <a:srgbClr val="F6E7DA"/>
              </a:solidFill>
              <a:latin typeface="Times New Roman" panose="02020603050405020304" charset="0"/>
              <a:ea typeface="IBM Plex Sans" pitchFamily="34" charset="-122"/>
              <a:cs typeface="Times New Roman" panose="02020603050405020304" charset="0"/>
            </a:endParaRPr>
          </a:p>
        </p:txBody>
      </p:sp>
      <p:sp>
        <p:nvSpPr>
          <p:cNvPr id="38" name="Text 30"/>
          <p:cNvSpPr/>
          <p:nvPr/>
        </p:nvSpPr>
        <p:spPr>
          <a:xfrm>
            <a:off x="812800" y="5033010"/>
            <a:ext cx="10883392" cy="23114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5C6475"/>
                </a:solidFill>
                <a:latin typeface="Times New Roman" panose="02020603050405020304" charset="0"/>
                <a:ea typeface="IBM Plex Sans" pitchFamily="34" charset="-122"/>
                <a:cs typeface="Times New Roman" panose="02020603050405020304" charset="0"/>
              </a:rPr>
              <a:t>Optional: </a:t>
            </a:r>
            <a:r>
              <a:rPr lang="en-US" sz="1200" b="1" dirty="0">
                <a:solidFill>
                  <a:srgbClr val="5C6475"/>
                </a:solidFill>
                <a:latin typeface="Times New Roman" panose="02020603050405020304" charset="0"/>
                <a:ea typeface="IBM Plex Sans" pitchFamily="34" charset="-122"/>
                <a:cs typeface="Times New Roman" panose="02020603050405020304" charset="0"/>
              </a:rPr>
              <a:t>discharge summary</a:t>
            </a:r>
            <a:r>
              <a:rPr lang="en-US" sz="1200" dirty="0">
                <a:solidFill>
                  <a:srgbClr val="5C6475"/>
                </a:solidFill>
                <a:latin typeface="Times New Roman" panose="02020603050405020304" charset="0"/>
                <a:ea typeface="IBM Plex Sans" pitchFamily="34" charset="-122"/>
                <a:cs typeface="Times New Roman" panose="02020603050405020304" charset="0"/>
              </a:rPr>
              <a:t> (512-d; diagnoses, procedures, length of stay, ICU) — known only at discharge, leakage control only</a:t>
            </a:r>
            <a:endParaRPr lang="en-US" sz="1200" dirty="0">
              <a:latin typeface="Times New Roman" panose="02020603050405020304" charset="0"/>
              <a:cs typeface="Times New Roman" panose="02020603050405020304" charset="0"/>
            </a:endParaRPr>
          </a:p>
        </p:txBody>
      </p:sp>
      <p:sp>
        <p:nvSpPr>
          <p:cNvPr id="40" name="Text 32"/>
          <p:cNvSpPr/>
          <p:nvPr/>
        </p:nvSpPr>
        <p:spPr>
          <a:xfrm>
            <a:off x="10566400" y="6238240"/>
            <a:ext cx="812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280"/>
                </a:solidFill>
                <a:latin typeface="Times New Roman" panose="02020603050405020304" charset="0"/>
                <a:ea typeface="IBM Plex Sans" pitchFamily="34" charset="-122"/>
                <a:cs typeface="Times New Roman" panose="02020603050405020304" charset="0"/>
              </a:rPr>
              <a:t>1 / 3</a:t>
            </a:r>
            <a:endParaRPr lang="en-US" sz="1200" dirty="0">
              <a:solidFill>
                <a:srgbClr val="6B7280"/>
              </a:solidFill>
              <a:latin typeface="Times New Roman" panose="02020603050405020304" charset="0"/>
              <a:ea typeface="IBM Plex Sans" pitchFamily="34"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DE6"/>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Times New Roman" panose="02020603050405020304" charset="0"/>
                <a:ea typeface="IBM Plex Sans" pitchFamily="34" charset="-122"/>
                <a:cs typeface="Times New Roman" panose="02020603050405020304" charset="0"/>
              </a:rPr>
              <a:t>Data processing behind the embeddings</a:t>
            </a:r>
            <a:endParaRPr lang="en-US" sz="3000" b="1" i="0" dirty="0">
              <a:solidFill>
                <a:srgbClr val="14213D"/>
              </a:solidFill>
              <a:latin typeface="Times New Roman" panose="02020603050405020304" charset="0"/>
              <a:ea typeface="IBM Plex Sans" pitchFamily="34" charset="-122"/>
              <a:cs typeface="Times New Roman" panose="02020603050405020304" charset="0"/>
            </a:endParaRPr>
          </a:p>
        </p:txBody>
      </p:sp>
      <p:sp>
        <p:nvSpPr>
          <p:cNvPr id="3" name="Text 1"/>
          <p:cNvSpPr/>
          <p:nvPr/>
        </p:nvSpPr>
        <p:spPr>
          <a:xfrm>
            <a:off x="812800" y="1308100"/>
            <a:ext cx="3270250" cy="253841"/>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3D"/>
                </a:solidFill>
                <a:latin typeface="Times New Roman" panose="02020603050405020304" charset="0"/>
                <a:ea typeface="IBM Plex Sans" pitchFamily="34" charset="-122"/>
                <a:cs typeface="Times New Roman" panose="02020603050405020304" charset="0"/>
              </a:rPr>
              <a:t>1 · Cohort construction</a:t>
            </a:r>
            <a:endParaRPr lang="en-US" sz="15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4" name="Shape 2"/>
          <p:cNvSpPr/>
          <p:nvPr/>
        </p:nvSpPr>
        <p:spPr>
          <a:xfrm>
            <a:off x="819150" y="1593691"/>
            <a:ext cx="3162300" cy="616823"/>
          </a:xfrm>
          <a:prstGeom prst="roundRect">
            <a:avLst>
              <a:gd name="adj" fmla="val 11324"/>
            </a:avLst>
          </a:prstGeom>
          <a:solidFill>
            <a:srgbClr val="FDFCF9"/>
          </a:solidFill>
          <a:ln w="12700">
            <a:solidFill>
              <a:srgbClr val="C9C4B8"/>
            </a:solidFill>
            <a:prstDash val="solid"/>
          </a:ln>
        </p:spPr>
      </p:sp>
      <p:sp>
        <p:nvSpPr>
          <p:cNvPr id="5" name="Text 3"/>
          <p:cNvSpPr/>
          <p:nvPr/>
        </p:nvSpPr>
        <p:spPr>
          <a:xfrm>
            <a:off x="949960" y="1673702"/>
            <a:ext cx="2987701" cy="256302"/>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4213D"/>
                </a:solidFill>
                <a:latin typeface="Times New Roman" panose="02020603050405020304" charset="0"/>
                <a:ea typeface="IBM Plex Sans" pitchFamily="34" charset="-122"/>
                <a:cs typeface="Times New Roman" panose="02020603050405020304" charset="0"/>
              </a:rPr>
              <a:t>1,000 patients</a:t>
            </a:r>
            <a:endParaRPr lang="en-US" sz="13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6" name="Text 4"/>
          <p:cNvSpPr/>
          <p:nvPr/>
        </p:nvSpPr>
        <p:spPr>
          <a:xfrm>
            <a:off x="949960" y="1917303"/>
            <a:ext cx="2987701" cy="23860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3,351 studies · 5,534 DICOM images</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7" name="Image 0" descr="arrow-down"/>
          <p:cNvPicPr>
            <a:picLocks noChangeAspect="1"/>
          </p:cNvPicPr>
          <p:nvPr/>
        </p:nvPicPr>
        <p:blipFill>
          <a:blip r:embed="rId1"/>
          <a:srcRect l="-31" r="-31"/>
          <a:stretch>
            <a:fillRect/>
          </a:stretch>
        </p:blipFill>
        <p:spPr>
          <a:xfrm>
            <a:off x="2355850" y="2267665"/>
            <a:ext cx="88900" cy="126921"/>
          </a:xfrm>
          <a:prstGeom prst="rect">
            <a:avLst/>
          </a:prstGeom>
        </p:spPr>
      </p:pic>
      <p:sp>
        <p:nvSpPr>
          <p:cNvPr id="8" name="Shape 5"/>
          <p:cNvSpPr/>
          <p:nvPr/>
        </p:nvSpPr>
        <p:spPr>
          <a:xfrm>
            <a:off x="819150" y="2451735"/>
            <a:ext cx="3162300" cy="830024"/>
          </a:xfrm>
          <a:prstGeom prst="roundRect">
            <a:avLst>
              <a:gd name="adj" fmla="val 8415"/>
            </a:avLst>
          </a:prstGeom>
          <a:solidFill>
            <a:srgbClr val="FDFCF9"/>
          </a:solidFill>
          <a:ln w="12700">
            <a:solidFill>
              <a:srgbClr val="C9C4B8"/>
            </a:solidFill>
            <a:prstDash val="solid"/>
          </a:ln>
        </p:spPr>
      </p:sp>
      <p:sp>
        <p:nvSpPr>
          <p:cNvPr id="9" name="Text 6"/>
          <p:cNvSpPr/>
          <p:nvPr/>
        </p:nvSpPr>
        <p:spPr>
          <a:xfrm>
            <a:off x="949960" y="2531745"/>
            <a:ext cx="2987701" cy="256381"/>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4213D"/>
                </a:solidFill>
                <a:latin typeface="Times New Roman" panose="02020603050405020304" charset="0"/>
                <a:ea typeface="IBM Plex Sans" pitchFamily="34" charset="-122"/>
                <a:cs typeface="Times New Roman" panose="02020603050405020304" charset="0"/>
              </a:rPr>
              <a:t>786 patients</a:t>
            </a:r>
            <a:endParaRPr lang="en-US" sz="13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10" name="Text 7"/>
          <p:cNvSpPr/>
          <p:nvPr/>
        </p:nvSpPr>
        <p:spPr>
          <a:xfrm>
            <a:off x="949960" y="2775427"/>
            <a:ext cx="2987701" cy="451723"/>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have ≥1 MIMIC-IV admission (64 in-hospital deaths across all 3,214)</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11" name="Image 1" descr="arrow-down"/>
          <p:cNvPicPr>
            <a:picLocks noChangeAspect="1"/>
          </p:cNvPicPr>
          <p:nvPr/>
        </p:nvPicPr>
        <p:blipFill>
          <a:blip r:embed="rId1"/>
          <a:srcRect l="-31" r="-31"/>
          <a:stretch>
            <a:fillRect/>
          </a:stretch>
        </p:blipFill>
        <p:spPr>
          <a:xfrm>
            <a:off x="2355850" y="3338909"/>
            <a:ext cx="88900" cy="126921"/>
          </a:xfrm>
          <a:prstGeom prst="rect">
            <a:avLst/>
          </a:prstGeom>
        </p:spPr>
      </p:pic>
      <p:sp>
        <p:nvSpPr>
          <p:cNvPr id="12" name="Shape 8"/>
          <p:cNvSpPr/>
          <p:nvPr/>
        </p:nvSpPr>
        <p:spPr>
          <a:xfrm>
            <a:off x="819150" y="3522980"/>
            <a:ext cx="3162300" cy="616823"/>
          </a:xfrm>
          <a:prstGeom prst="roundRect">
            <a:avLst>
              <a:gd name="adj" fmla="val 11324"/>
            </a:avLst>
          </a:prstGeom>
          <a:solidFill>
            <a:srgbClr val="FDFCF9"/>
          </a:solidFill>
          <a:ln w="12700">
            <a:solidFill>
              <a:srgbClr val="C9C4B8"/>
            </a:solidFill>
            <a:prstDash val="solid"/>
          </a:ln>
        </p:spPr>
      </p:sp>
      <p:sp>
        <p:nvSpPr>
          <p:cNvPr id="13" name="Text 9"/>
          <p:cNvSpPr/>
          <p:nvPr/>
        </p:nvSpPr>
        <p:spPr>
          <a:xfrm>
            <a:off x="949960" y="3602990"/>
            <a:ext cx="2987701" cy="256302"/>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4213D"/>
                </a:solidFill>
                <a:latin typeface="Times New Roman" panose="02020603050405020304" charset="0"/>
                <a:ea typeface="IBM Plex Sans" pitchFamily="34" charset="-122"/>
                <a:cs typeface="Times New Roman" panose="02020603050405020304" charset="0"/>
              </a:rPr>
              <a:t>2,356 studies matched</a:t>
            </a:r>
            <a:endParaRPr lang="en-US" sz="13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14" name="Text 10"/>
          <p:cNvSpPr/>
          <p:nvPr/>
        </p:nvSpPr>
        <p:spPr>
          <a:xfrm>
            <a:off x="949960" y="3846592"/>
            <a:ext cx="2987701" cy="23860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to 1,172 admissions by time window</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15" name="Image 2" descr="arrow-down"/>
          <p:cNvPicPr>
            <a:picLocks noChangeAspect="1"/>
          </p:cNvPicPr>
          <p:nvPr/>
        </p:nvPicPr>
        <p:blipFill>
          <a:blip r:embed="rId1"/>
          <a:srcRect l="-31" r="-31"/>
          <a:stretch>
            <a:fillRect/>
          </a:stretch>
        </p:blipFill>
        <p:spPr>
          <a:xfrm>
            <a:off x="2355850" y="4196953"/>
            <a:ext cx="88900" cy="126921"/>
          </a:xfrm>
          <a:prstGeom prst="rect">
            <a:avLst/>
          </a:prstGeom>
        </p:spPr>
      </p:pic>
      <p:sp>
        <p:nvSpPr>
          <p:cNvPr id="16" name="Shape 11"/>
          <p:cNvSpPr/>
          <p:nvPr/>
        </p:nvSpPr>
        <p:spPr>
          <a:xfrm>
            <a:off x="819150" y="4381024"/>
            <a:ext cx="3162300" cy="616903"/>
          </a:xfrm>
          <a:prstGeom prst="roundRect">
            <a:avLst>
              <a:gd name="adj" fmla="val 11323"/>
            </a:avLst>
          </a:prstGeom>
          <a:solidFill>
            <a:srgbClr val="FDFCF9"/>
          </a:solidFill>
          <a:ln w="12700">
            <a:solidFill>
              <a:srgbClr val="C9C4B8"/>
            </a:solidFill>
            <a:prstDash val="solid"/>
          </a:ln>
        </p:spPr>
      </p:sp>
      <p:sp>
        <p:nvSpPr>
          <p:cNvPr id="17" name="Text 12"/>
          <p:cNvSpPr/>
          <p:nvPr/>
        </p:nvSpPr>
        <p:spPr>
          <a:xfrm>
            <a:off x="949960" y="4461034"/>
            <a:ext cx="2987701" cy="256381"/>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4213D"/>
                </a:solidFill>
                <a:latin typeface="Times New Roman" panose="02020603050405020304" charset="0"/>
                <a:ea typeface="IBM Plex Sans" pitchFamily="34" charset="-122"/>
                <a:cs typeface="Times New Roman" panose="02020603050405020304" charset="0"/>
              </a:rPr>
              <a:t>1,156 admissions</a:t>
            </a:r>
            <a:endParaRPr lang="en-US" sz="13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18" name="Text 13"/>
          <p:cNvSpPr/>
          <p:nvPr/>
        </p:nvSpPr>
        <p:spPr>
          <a:xfrm>
            <a:off x="949960" y="4704715"/>
            <a:ext cx="2987701" cy="23860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have a frontal (PA/AP) study</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19" name="Image 3" descr="arrow-down"/>
          <p:cNvPicPr>
            <a:picLocks noChangeAspect="1"/>
          </p:cNvPicPr>
          <p:nvPr/>
        </p:nvPicPr>
        <p:blipFill>
          <a:blip r:embed="rId1"/>
          <a:srcRect l="-31" r="-31"/>
          <a:stretch>
            <a:fillRect/>
          </a:stretch>
        </p:blipFill>
        <p:spPr>
          <a:xfrm>
            <a:off x="2355850" y="5055077"/>
            <a:ext cx="88900" cy="126921"/>
          </a:xfrm>
          <a:prstGeom prst="rect">
            <a:avLst/>
          </a:prstGeom>
        </p:spPr>
      </p:pic>
      <p:sp>
        <p:nvSpPr>
          <p:cNvPr id="20" name="Shape 14"/>
          <p:cNvSpPr/>
          <p:nvPr/>
        </p:nvSpPr>
        <p:spPr>
          <a:xfrm>
            <a:off x="812800" y="5232797"/>
            <a:ext cx="3175000" cy="609203"/>
          </a:xfrm>
          <a:prstGeom prst="roundRect">
            <a:avLst>
              <a:gd name="adj" fmla="val 12508"/>
            </a:avLst>
          </a:prstGeom>
          <a:solidFill>
            <a:srgbClr val="14213D"/>
          </a:solidFill>
        </p:spPr>
      </p:sp>
      <p:sp>
        <p:nvSpPr>
          <p:cNvPr id="21" name="Text 15"/>
          <p:cNvSpPr/>
          <p:nvPr/>
        </p:nvSpPr>
        <p:spPr>
          <a:xfrm>
            <a:off x="939800" y="5308997"/>
            <a:ext cx="3008630" cy="256302"/>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F7F6F2"/>
                </a:solidFill>
                <a:latin typeface="Times New Roman" panose="02020603050405020304" charset="0"/>
                <a:ea typeface="IBM Plex Sans" pitchFamily="34" charset="-122"/>
                <a:cs typeface="Times New Roman" panose="02020603050405020304" charset="0"/>
              </a:rPr>
              <a:t>651 patients · 47 deaths</a:t>
            </a:r>
            <a:endParaRPr lang="en-US" sz="1300" b="1" dirty="0">
              <a:solidFill>
                <a:srgbClr val="F7F6F2"/>
              </a:solidFill>
              <a:latin typeface="Times New Roman" panose="02020603050405020304" charset="0"/>
              <a:ea typeface="IBM Plex Sans" pitchFamily="34" charset="-122"/>
              <a:cs typeface="Times New Roman" panose="02020603050405020304" charset="0"/>
            </a:endParaRPr>
          </a:p>
        </p:txBody>
      </p:sp>
      <p:sp>
        <p:nvSpPr>
          <p:cNvPr id="22" name="Text 16"/>
          <p:cNvSpPr/>
          <p:nvPr/>
        </p:nvSpPr>
        <p:spPr>
          <a:xfrm>
            <a:off x="939800" y="5552599"/>
            <a:ext cx="3008630" cy="23860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C9D3E3"/>
                </a:solidFill>
                <a:latin typeface="Times New Roman" panose="02020603050405020304" charset="0"/>
                <a:ea typeface="IBM Plex Sans" pitchFamily="34" charset="-122"/>
                <a:cs typeface="Times New Roman" panose="02020603050405020304" charset="0"/>
              </a:rPr>
              <a:t>in 1,156 admissions; 5 folds × 3 repeats</a:t>
            </a:r>
            <a:endParaRPr lang="en-US" sz="1200" dirty="0">
              <a:solidFill>
                <a:srgbClr val="C9D3E3"/>
              </a:solidFill>
              <a:latin typeface="Times New Roman" panose="02020603050405020304" charset="0"/>
              <a:ea typeface="IBM Plex Sans" pitchFamily="34" charset="-122"/>
              <a:cs typeface="Times New Roman" panose="02020603050405020304" charset="0"/>
            </a:endParaRPr>
          </a:p>
        </p:txBody>
      </p:sp>
      <p:sp>
        <p:nvSpPr>
          <p:cNvPr id="23" name="Text 17"/>
          <p:cNvSpPr/>
          <p:nvPr/>
        </p:nvSpPr>
        <p:spPr>
          <a:xfrm>
            <a:off x="4241800" y="1308100"/>
            <a:ext cx="3544951"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3D"/>
                </a:solidFill>
                <a:latin typeface="Times New Roman" panose="02020603050405020304" charset="0"/>
                <a:ea typeface="IBM Plex Sans" pitchFamily="34" charset="-122"/>
                <a:cs typeface="Times New Roman" panose="02020603050405020304" charset="0"/>
              </a:rPr>
              <a:t>2 · Lab coverage before t0</a:t>
            </a:r>
            <a:endParaRPr lang="en-US" sz="15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24" name="Text 18"/>
          <p:cNvSpPr/>
          <p:nvPr/>
        </p:nvSpPr>
        <p:spPr>
          <a:xfrm>
            <a:off x="4241800" y="1612900"/>
            <a:ext cx="3544951"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C6475"/>
                </a:solidFill>
                <a:latin typeface="Times New Roman" panose="02020603050405020304" charset="0"/>
                <a:ea typeface="IBM Plex Sans" pitchFamily="34" charset="-122"/>
                <a:cs typeface="Times New Roman" panose="02020603050405020304" charset="0"/>
              </a:rPr>
              <a:t>Admissions with a value in [t0 − 24 h, t0]</a:t>
            </a:r>
            <a:endParaRPr lang="en-US" sz="1200" dirty="0">
              <a:solidFill>
                <a:srgbClr val="5C6475"/>
              </a:solidFill>
              <a:latin typeface="Times New Roman" panose="02020603050405020304" charset="0"/>
              <a:ea typeface="IBM Plex Sans" pitchFamily="34" charset="-122"/>
              <a:cs typeface="Times New Roman" panose="02020603050405020304" charset="0"/>
            </a:endParaRPr>
          </a:p>
        </p:txBody>
      </p:sp>
      <p:sp>
        <p:nvSpPr>
          <p:cNvPr id="25" name="Text 19"/>
          <p:cNvSpPr/>
          <p:nvPr/>
        </p:nvSpPr>
        <p:spPr>
          <a:xfrm>
            <a:off x="4241800" y="190246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12 routine labs*</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26" name="Shape 20"/>
          <p:cNvSpPr/>
          <p:nvPr/>
        </p:nvSpPr>
        <p:spPr>
          <a:xfrm>
            <a:off x="5524500" y="1939290"/>
            <a:ext cx="1625600" cy="139700"/>
          </a:xfrm>
          <a:prstGeom prst="roundRect">
            <a:avLst>
              <a:gd name="adj" fmla="val 45455"/>
            </a:avLst>
          </a:prstGeom>
          <a:solidFill>
            <a:srgbClr val="DCD8CD"/>
          </a:solidFill>
        </p:spPr>
      </p:sp>
      <p:sp>
        <p:nvSpPr>
          <p:cNvPr id="27" name="Shape 21"/>
          <p:cNvSpPr/>
          <p:nvPr/>
        </p:nvSpPr>
        <p:spPr>
          <a:xfrm>
            <a:off x="5524500" y="1939290"/>
            <a:ext cx="1625600" cy="139700"/>
          </a:xfrm>
          <a:prstGeom prst="roundRect">
            <a:avLst>
              <a:gd name="adj" fmla="val 45455"/>
            </a:avLst>
          </a:prstGeom>
          <a:solidFill>
            <a:srgbClr val="9C4F14"/>
          </a:solidFill>
        </p:spPr>
      </p:sp>
      <p:sp>
        <p:nvSpPr>
          <p:cNvPr id="28" name="Text 22"/>
          <p:cNvSpPr/>
          <p:nvPr/>
        </p:nvSpPr>
        <p:spPr>
          <a:xfrm>
            <a:off x="7175500" y="190246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77%</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29" name="Text 23"/>
          <p:cNvSpPr/>
          <p:nvPr/>
        </p:nvSpPr>
        <p:spPr>
          <a:xfrm>
            <a:off x="4241800" y="216662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INR / PTT</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30" name="Shape 24"/>
          <p:cNvSpPr/>
          <p:nvPr/>
        </p:nvSpPr>
        <p:spPr>
          <a:xfrm>
            <a:off x="5524500" y="2203450"/>
            <a:ext cx="1625600" cy="139700"/>
          </a:xfrm>
          <a:prstGeom prst="roundRect">
            <a:avLst>
              <a:gd name="adj" fmla="val 45455"/>
            </a:avLst>
          </a:prstGeom>
          <a:solidFill>
            <a:srgbClr val="DCD8CD"/>
          </a:solidFill>
        </p:spPr>
      </p:sp>
      <p:sp>
        <p:nvSpPr>
          <p:cNvPr id="31" name="Shape 25"/>
          <p:cNvSpPr/>
          <p:nvPr/>
        </p:nvSpPr>
        <p:spPr>
          <a:xfrm>
            <a:off x="5524500" y="2203450"/>
            <a:ext cx="1625600" cy="139700"/>
          </a:xfrm>
          <a:prstGeom prst="roundRect">
            <a:avLst>
              <a:gd name="adj" fmla="val 45455"/>
            </a:avLst>
          </a:prstGeom>
          <a:solidFill>
            <a:srgbClr val="9C4F14"/>
          </a:solidFill>
        </p:spPr>
      </p:sp>
      <p:sp>
        <p:nvSpPr>
          <p:cNvPr id="32" name="Text 26"/>
          <p:cNvSpPr/>
          <p:nvPr/>
        </p:nvSpPr>
        <p:spPr>
          <a:xfrm>
            <a:off x="7175500" y="216662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45%</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33" name="Text 27"/>
          <p:cNvSpPr/>
          <p:nvPr/>
        </p:nvSpPr>
        <p:spPr>
          <a:xfrm>
            <a:off x="4241800" y="243078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Magnesium</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34" name="Shape 28"/>
          <p:cNvSpPr/>
          <p:nvPr/>
        </p:nvSpPr>
        <p:spPr>
          <a:xfrm>
            <a:off x="5524500" y="2467610"/>
            <a:ext cx="1625600" cy="139700"/>
          </a:xfrm>
          <a:prstGeom prst="roundRect">
            <a:avLst>
              <a:gd name="adj" fmla="val 45455"/>
            </a:avLst>
          </a:prstGeom>
          <a:solidFill>
            <a:srgbClr val="DCD8CD"/>
          </a:solidFill>
        </p:spPr>
      </p:sp>
      <p:sp>
        <p:nvSpPr>
          <p:cNvPr id="35" name="Shape 29"/>
          <p:cNvSpPr/>
          <p:nvPr/>
        </p:nvSpPr>
        <p:spPr>
          <a:xfrm>
            <a:off x="5524500" y="2467610"/>
            <a:ext cx="1625600" cy="139700"/>
          </a:xfrm>
          <a:prstGeom prst="roundRect">
            <a:avLst>
              <a:gd name="adj" fmla="val 45455"/>
            </a:avLst>
          </a:prstGeom>
          <a:solidFill>
            <a:srgbClr val="9C4F14"/>
          </a:solidFill>
        </p:spPr>
      </p:sp>
      <p:sp>
        <p:nvSpPr>
          <p:cNvPr id="36" name="Text 30"/>
          <p:cNvSpPr/>
          <p:nvPr/>
        </p:nvSpPr>
        <p:spPr>
          <a:xfrm>
            <a:off x="7175500" y="243078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40%</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37" name="Text 31"/>
          <p:cNvSpPr/>
          <p:nvPr/>
        </p:nvSpPr>
        <p:spPr>
          <a:xfrm>
            <a:off x="4241800" y="269494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Calcium</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38" name="Shape 32"/>
          <p:cNvSpPr/>
          <p:nvPr/>
        </p:nvSpPr>
        <p:spPr>
          <a:xfrm>
            <a:off x="5524500" y="2731770"/>
            <a:ext cx="1625600" cy="139700"/>
          </a:xfrm>
          <a:prstGeom prst="roundRect">
            <a:avLst>
              <a:gd name="adj" fmla="val 45455"/>
            </a:avLst>
          </a:prstGeom>
          <a:solidFill>
            <a:srgbClr val="DCD8CD"/>
          </a:solidFill>
        </p:spPr>
      </p:sp>
      <p:sp>
        <p:nvSpPr>
          <p:cNvPr id="39" name="Shape 33"/>
          <p:cNvSpPr/>
          <p:nvPr/>
        </p:nvSpPr>
        <p:spPr>
          <a:xfrm>
            <a:off x="5524500" y="2731770"/>
            <a:ext cx="1625600" cy="139700"/>
          </a:xfrm>
          <a:prstGeom prst="roundRect">
            <a:avLst>
              <a:gd name="adj" fmla="val 45455"/>
            </a:avLst>
          </a:prstGeom>
          <a:solidFill>
            <a:srgbClr val="9C4F14"/>
          </a:solidFill>
        </p:spPr>
      </p:sp>
      <p:sp>
        <p:nvSpPr>
          <p:cNvPr id="40" name="Text 34"/>
          <p:cNvSpPr/>
          <p:nvPr/>
        </p:nvSpPr>
        <p:spPr>
          <a:xfrm>
            <a:off x="7175500" y="269494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39%</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41" name="Text 35"/>
          <p:cNvSpPr/>
          <p:nvPr/>
        </p:nvSpPr>
        <p:spPr>
          <a:xfrm>
            <a:off x="4241800" y="295910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ALT</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42" name="Shape 36"/>
          <p:cNvSpPr/>
          <p:nvPr/>
        </p:nvSpPr>
        <p:spPr>
          <a:xfrm>
            <a:off x="5524500" y="2995930"/>
            <a:ext cx="1625600" cy="139700"/>
          </a:xfrm>
          <a:prstGeom prst="roundRect">
            <a:avLst>
              <a:gd name="adj" fmla="val 45455"/>
            </a:avLst>
          </a:prstGeom>
          <a:solidFill>
            <a:srgbClr val="DCD8CD"/>
          </a:solidFill>
        </p:spPr>
      </p:sp>
      <p:sp>
        <p:nvSpPr>
          <p:cNvPr id="43" name="Shape 37"/>
          <p:cNvSpPr/>
          <p:nvPr/>
        </p:nvSpPr>
        <p:spPr>
          <a:xfrm>
            <a:off x="5524500" y="2995930"/>
            <a:ext cx="1625600" cy="139700"/>
          </a:xfrm>
          <a:prstGeom prst="roundRect">
            <a:avLst>
              <a:gd name="adj" fmla="val 45455"/>
            </a:avLst>
          </a:prstGeom>
          <a:solidFill>
            <a:srgbClr val="9C4F14"/>
          </a:solidFill>
        </p:spPr>
      </p:sp>
      <p:sp>
        <p:nvSpPr>
          <p:cNvPr id="44" name="Text 38"/>
          <p:cNvSpPr/>
          <p:nvPr/>
        </p:nvSpPr>
        <p:spPr>
          <a:xfrm>
            <a:off x="7175500" y="295910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35%</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45" name="Text 39"/>
          <p:cNvSpPr/>
          <p:nvPr/>
        </p:nvSpPr>
        <p:spPr>
          <a:xfrm>
            <a:off x="4241800" y="322326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Bilirubin</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46" name="Shape 40"/>
          <p:cNvSpPr/>
          <p:nvPr/>
        </p:nvSpPr>
        <p:spPr>
          <a:xfrm>
            <a:off x="5524500" y="3260090"/>
            <a:ext cx="1625600" cy="139700"/>
          </a:xfrm>
          <a:prstGeom prst="roundRect">
            <a:avLst>
              <a:gd name="adj" fmla="val 45455"/>
            </a:avLst>
          </a:prstGeom>
          <a:solidFill>
            <a:srgbClr val="DCD8CD"/>
          </a:solidFill>
        </p:spPr>
      </p:sp>
      <p:sp>
        <p:nvSpPr>
          <p:cNvPr id="47" name="Shape 41"/>
          <p:cNvSpPr/>
          <p:nvPr/>
        </p:nvSpPr>
        <p:spPr>
          <a:xfrm>
            <a:off x="5524500" y="3260090"/>
            <a:ext cx="1625600" cy="139700"/>
          </a:xfrm>
          <a:prstGeom prst="roundRect">
            <a:avLst>
              <a:gd name="adj" fmla="val 45455"/>
            </a:avLst>
          </a:prstGeom>
          <a:solidFill>
            <a:srgbClr val="9C4F14"/>
          </a:solidFill>
        </p:spPr>
      </p:sp>
      <p:sp>
        <p:nvSpPr>
          <p:cNvPr id="48" name="Text 42"/>
          <p:cNvSpPr/>
          <p:nvPr/>
        </p:nvSpPr>
        <p:spPr>
          <a:xfrm>
            <a:off x="7175500" y="322326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34%</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49" name="Text 43"/>
          <p:cNvSpPr/>
          <p:nvPr/>
        </p:nvSpPr>
        <p:spPr>
          <a:xfrm>
            <a:off x="4241800" y="348742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Albumin</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50" name="Shape 44"/>
          <p:cNvSpPr/>
          <p:nvPr/>
        </p:nvSpPr>
        <p:spPr>
          <a:xfrm>
            <a:off x="5524500" y="3524250"/>
            <a:ext cx="1625600" cy="139700"/>
          </a:xfrm>
          <a:prstGeom prst="roundRect">
            <a:avLst>
              <a:gd name="adj" fmla="val 45455"/>
            </a:avLst>
          </a:prstGeom>
          <a:solidFill>
            <a:srgbClr val="DCD8CD"/>
          </a:solidFill>
        </p:spPr>
      </p:sp>
      <p:sp>
        <p:nvSpPr>
          <p:cNvPr id="51" name="Shape 45"/>
          <p:cNvSpPr/>
          <p:nvPr/>
        </p:nvSpPr>
        <p:spPr>
          <a:xfrm>
            <a:off x="5524500" y="3524250"/>
            <a:ext cx="1625600" cy="139700"/>
          </a:xfrm>
          <a:prstGeom prst="roundRect">
            <a:avLst>
              <a:gd name="adj" fmla="val 45455"/>
            </a:avLst>
          </a:prstGeom>
          <a:solidFill>
            <a:srgbClr val="9C4F14"/>
          </a:solidFill>
        </p:spPr>
      </p:sp>
      <p:sp>
        <p:nvSpPr>
          <p:cNvPr id="52" name="Text 46"/>
          <p:cNvSpPr/>
          <p:nvPr/>
        </p:nvSpPr>
        <p:spPr>
          <a:xfrm>
            <a:off x="7175500" y="348742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29%</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53" name="Text 47"/>
          <p:cNvSpPr/>
          <p:nvPr/>
        </p:nvSpPr>
        <p:spPr>
          <a:xfrm>
            <a:off x="4241800" y="375158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Lactate</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54" name="Shape 48"/>
          <p:cNvSpPr/>
          <p:nvPr/>
        </p:nvSpPr>
        <p:spPr>
          <a:xfrm>
            <a:off x="5524500" y="3788410"/>
            <a:ext cx="1625600" cy="139700"/>
          </a:xfrm>
          <a:prstGeom prst="roundRect">
            <a:avLst>
              <a:gd name="adj" fmla="val 45455"/>
            </a:avLst>
          </a:prstGeom>
          <a:solidFill>
            <a:srgbClr val="DCD8CD"/>
          </a:solidFill>
        </p:spPr>
      </p:sp>
      <p:sp>
        <p:nvSpPr>
          <p:cNvPr id="55" name="Shape 49"/>
          <p:cNvSpPr/>
          <p:nvPr/>
        </p:nvSpPr>
        <p:spPr>
          <a:xfrm>
            <a:off x="5524500" y="3788410"/>
            <a:ext cx="1625600" cy="139700"/>
          </a:xfrm>
          <a:prstGeom prst="roundRect">
            <a:avLst>
              <a:gd name="adj" fmla="val 45455"/>
            </a:avLst>
          </a:prstGeom>
          <a:solidFill>
            <a:srgbClr val="9C4F14"/>
          </a:solidFill>
        </p:spPr>
      </p:sp>
      <p:sp>
        <p:nvSpPr>
          <p:cNvPr id="56" name="Text 50"/>
          <p:cNvSpPr/>
          <p:nvPr/>
        </p:nvSpPr>
        <p:spPr>
          <a:xfrm>
            <a:off x="7175500" y="375158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27%</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57" name="Text 51"/>
          <p:cNvSpPr/>
          <p:nvPr/>
        </p:nvSpPr>
        <p:spPr>
          <a:xfrm>
            <a:off x="4241800" y="401574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Troponin T</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58" name="Shape 52"/>
          <p:cNvSpPr/>
          <p:nvPr/>
        </p:nvSpPr>
        <p:spPr>
          <a:xfrm>
            <a:off x="5524500" y="4052570"/>
            <a:ext cx="1625600" cy="139700"/>
          </a:xfrm>
          <a:prstGeom prst="roundRect">
            <a:avLst>
              <a:gd name="adj" fmla="val 45455"/>
            </a:avLst>
          </a:prstGeom>
          <a:solidFill>
            <a:srgbClr val="DCD8CD"/>
          </a:solidFill>
        </p:spPr>
      </p:sp>
      <p:sp>
        <p:nvSpPr>
          <p:cNvPr id="59" name="Shape 53"/>
          <p:cNvSpPr/>
          <p:nvPr/>
        </p:nvSpPr>
        <p:spPr>
          <a:xfrm>
            <a:off x="5524500" y="4052570"/>
            <a:ext cx="1625600" cy="139700"/>
          </a:xfrm>
          <a:prstGeom prst="roundRect">
            <a:avLst>
              <a:gd name="adj" fmla="val 45455"/>
            </a:avLst>
          </a:prstGeom>
          <a:solidFill>
            <a:srgbClr val="9C4F14"/>
          </a:solidFill>
        </p:spPr>
      </p:sp>
      <p:sp>
        <p:nvSpPr>
          <p:cNvPr id="60" name="Text 54"/>
          <p:cNvSpPr/>
          <p:nvPr/>
        </p:nvSpPr>
        <p:spPr>
          <a:xfrm>
            <a:off x="7175500" y="401574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9%</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61" name="Text 55"/>
          <p:cNvSpPr/>
          <p:nvPr/>
        </p:nvSpPr>
        <p:spPr>
          <a:xfrm>
            <a:off x="4241800" y="4279900"/>
            <a:ext cx="12573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pH</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62" name="Shape 56"/>
          <p:cNvSpPr/>
          <p:nvPr/>
        </p:nvSpPr>
        <p:spPr>
          <a:xfrm>
            <a:off x="5524500" y="4316730"/>
            <a:ext cx="1625600" cy="139700"/>
          </a:xfrm>
          <a:prstGeom prst="roundRect">
            <a:avLst>
              <a:gd name="adj" fmla="val 45455"/>
            </a:avLst>
          </a:prstGeom>
          <a:solidFill>
            <a:srgbClr val="DCD8CD"/>
          </a:solidFill>
        </p:spPr>
      </p:sp>
      <p:sp>
        <p:nvSpPr>
          <p:cNvPr id="63" name="Shape 57"/>
          <p:cNvSpPr/>
          <p:nvPr/>
        </p:nvSpPr>
        <p:spPr>
          <a:xfrm>
            <a:off x="5524500" y="4316730"/>
            <a:ext cx="1625600" cy="139700"/>
          </a:xfrm>
          <a:prstGeom prst="roundRect">
            <a:avLst>
              <a:gd name="adj" fmla="val 45455"/>
            </a:avLst>
          </a:prstGeom>
          <a:solidFill>
            <a:srgbClr val="9C4F14"/>
          </a:solidFill>
        </p:spPr>
      </p:sp>
      <p:sp>
        <p:nvSpPr>
          <p:cNvPr id="64" name="Text 58"/>
          <p:cNvSpPr/>
          <p:nvPr/>
        </p:nvSpPr>
        <p:spPr>
          <a:xfrm>
            <a:off x="7175500" y="4279900"/>
            <a:ext cx="5080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8%</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65" name="Text 59"/>
          <p:cNvSpPr/>
          <p:nvPr/>
        </p:nvSpPr>
        <p:spPr>
          <a:xfrm>
            <a:off x="4241800" y="4569460"/>
            <a:ext cx="3544951" cy="64262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5C6475"/>
                </a:solidFill>
                <a:latin typeface="Times New Roman" panose="02020603050405020304" charset="0"/>
                <a:ea typeface="IBM Plex Sans" pitchFamily="34" charset="-122"/>
                <a:cs typeface="Times New Roman" panose="02020603050405020304" charset="0"/>
              </a:rPr>
              <a:t>*Na, K, Cl, HCO3, anion gap, BUN, creatinine, glucose, WBC, Hb, platelets, RDW: 76–78%. 20% of admissions have no lab at all.</a:t>
            </a:r>
            <a:endParaRPr lang="en-US" sz="1200" dirty="0">
              <a:solidFill>
                <a:srgbClr val="5C6475"/>
              </a:solidFill>
              <a:latin typeface="Times New Roman" panose="02020603050405020304" charset="0"/>
              <a:ea typeface="IBM Plex Sans" pitchFamily="34" charset="-122"/>
              <a:cs typeface="Times New Roman" panose="02020603050405020304" charset="0"/>
            </a:endParaRPr>
          </a:p>
        </p:txBody>
      </p:sp>
      <p:sp>
        <p:nvSpPr>
          <p:cNvPr id="66" name="Text 60"/>
          <p:cNvSpPr/>
          <p:nvPr/>
        </p:nvSpPr>
        <p:spPr>
          <a:xfrm>
            <a:off x="7937500" y="1308100"/>
            <a:ext cx="3544951"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3D"/>
                </a:solidFill>
                <a:latin typeface="Times New Roman" panose="02020603050405020304" charset="0"/>
                <a:ea typeface="IBM Plex Sans" pitchFamily="34" charset="-122"/>
                <a:cs typeface="Times New Roman" panose="02020603050405020304" charset="0"/>
              </a:rPr>
              <a:t>3 · Preprocessing</a:t>
            </a:r>
            <a:endParaRPr lang="en-US" sz="15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67" name="Text 61"/>
          <p:cNvSpPr/>
          <p:nvPr/>
        </p:nvSpPr>
        <p:spPr>
          <a:xfrm>
            <a:off x="7937500" y="1612900"/>
            <a:ext cx="3544951"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C6475"/>
                </a:solidFill>
                <a:latin typeface="Times New Roman" panose="02020603050405020304" charset="0"/>
                <a:ea typeface="IBM Plex Sans" pitchFamily="34" charset="-122"/>
                <a:cs typeface="Times New Roman" panose="02020603050405020304" charset="0"/>
              </a:rPr>
              <a:t>Fitted on the training rows of each fold</a:t>
            </a:r>
            <a:endParaRPr lang="en-US" sz="1200" dirty="0">
              <a:solidFill>
                <a:srgbClr val="5C6475"/>
              </a:solidFill>
              <a:latin typeface="Times New Roman" panose="02020603050405020304" charset="0"/>
              <a:ea typeface="IBM Plex Sans" pitchFamily="34" charset="-122"/>
              <a:cs typeface="Times New Roman" panose="02020603050405020304" charset="0"/>
            </a:endParaRPr>
          </a:p>
        </p:txBody>
      </p:sp>
      <p:sp>
        <p:nvSpPr>
          <p:cNvPr id="68" name="Text 62"/>
          <p:cNvSpPr/>
          <p:nvPr/>
        </p:nvSpPr>
        <p:spPr>
          <a:xfrm>
            <a:off x="8022590" y="1902460"/>
            <a:ext cx="3452241" cy="1518920"/>
          </a:xfrm>
          <a:prstGeom prst="rect">
            <a:avLst/>
          </a:prstGeom>
          <a:noFill/>
        </p:spPr>
        <p:txBody>
          <a:bodyPr wrap="square" lIns="0" tIns="0" rIns="0" bIns="0" rtlCol="0" anchor="t">
            <a:normAutofit/>
          </a:bodyPr>
          <a:lstStyle/>
          <a:p>
            <a:pPr marL="168910" indent="-168910" algn="l">
              <a:lnSpc>
                <a:spcPts val="1680"/>
              </a:lnSpc>
              <a:buSzPct val="100000"/>
              <a:buFontTx/>
              <a:buAutoNum type="arabicPeriod"/>
            </a:pPr>
            <a:r>
              <a:rPr lang="en-US" sz="1200" dirty="0">
                <a:solidFill>
                  <a:srgbClr val="3D4658"/>
                </a:solidFill>
                <a:latin typeface="Times New Roman" panose="02020603050405020304" charset="0"/>
                <a:ea typeface="IBM Plex Sans" pitchFamily="34" charset="-122"/>
                <a:cs typeface="Times New Roman" panose="02020603050405020304" charset="0"/>
              </a:rPr>
              <a:t>log1p for 11 skewed labs</a:t>
            </a:r>
            <a:endParaRPr lang="en-US" sz="1200" dirty="0">
              <a:latin typeface="Times New Roman" panose="02020603050405020304" charset="0"/>
              <a:cs typeface="Times New Roman" panose="02020603050405020304" charset="0"/>
            </a:endParaRPr>
          </a:p>
          <a:p>
            <a:pPr marL="168910" indent="-168910" algn="l">
              <a:lnSpc>
                <a:spcPts val="1680"/>
              </a:lnSpc>
              <a:buSzPct val="100000"/>
              <a:buFontTx/>
              <a:buAutoNum type="arabicPeriod"/>
            </a:pPr>
            <a:r>
              <a:rPr lang="en-US" sz="1200" dirty="0">
                <a:solidFill>
                  <a:srgbClr val="3D4658"/>
                </a:solidFill>
                <a:latin typeface="Times New Roman" panose="02020603050405020304" charset="0"/>
                <a:ea typeface="IBM Plex Sans" pitchFamily="34" charset="-122"/>
                <a:cs typeface="Times New Roman" panose="02020603050405020304" charset="0"/>
              </a:rPr>
              <a:t>Winsorize at 1st / 99th percentile</a:t>
            </a:r>
            <a:endParaRPr lang="en-US" sz="1200" dirty="0">
              <a:latin typeface="Times New Roman" panose="02020603050405020304" charset="0"/>
              <a:cs typeface="Times New Roman" panose="02020603050405020304" charset="0"/>
            </a:endParaRPr>
          </a:p>
          <a:p>
            <a:pPr marL="168910" indent="-168910" algn="l">
              <a:lnSpc>
                <a:spcPts val="1680"/>
              </a:lnSpc>
              <a:buSzPct val="100000"/>
              <a:buFontTx/>
              <a:buAutoNum type="arabicPeriod"/>
            </a:pPr>
            <a:r>
              <a:rPr lang="en-US" sz="1200" dirty="0">
                <a:solidFill>
                  <a:srgbClr val="3D4658"/>
                </a:solidFill>
                <a:latin typeface="Times New Roman" panose="02020603050405020304" charset="0"/>
                <a:ea typeface="IBM Plex Sans" pitchFamily="34" charset="-122"/>
                <a:cs typeface="Times New Roman" panose="02020603050405020304" charset="0"/>
              </a:rPr>
              <a:t>Median imputation + missing mask</a:t>
            </a:r>
            <a:endParaRPr lang="en-US" sz="1200" dirty="0">
              <a:latin typeface="Times New Roman" panose="02020603050405020304" charset="0"/>
              <a:cs typeface="Times New Roman" panose="02020603050405020304" charset="0"/>
            </a:endParaRPr>
          </a:p>
          <a:p>
            <a:pPr marL="168910" indent="-168910" algn="l">
              <a:lnSpc>
                <a:spcPts val="1680"/>
              </a:lnSpc>
              <a:buSzPct val="100000"/>
              <a:buFontTx/>
              <a:buAutoNum type="arabicPeriod"/>
            </a:pPr>
            <a:r>
              <a:rPr lang="en-US" sz="1200" dirty="0">
                <a:solidFill>
                  <a:srgbClr val="3D4658"/>
                </a:solidFill>
                <a:latin typeface="Times New Roman" panose="02020603050405020304" charset="0"/>
                <a:ea typeface="IBM Plex Sans" pitchFamily="34" charset="-122"/>
                <a:cs typeface="Times New Roman" panose="02020603050405020304" charset="0"/>
              </a:rPr>
              <a:t>z-score, clipped to ±5</a:t>
            </a:r>
            <a:endParaRPr lang="en-US" sz="1200" dirty="0">
              <a:latin typeface="Times New Roman" panose="02020603050405020304" charset="0"/>
              <a:cs typeface="Times New Roman" panose="02020603050405020304" charset="0"/>
            </a:endParaRPr>
          </a:p>
          <a:p>
            <a:pPr marL="168910" indent="-168910" algn="l">
              <a:lnSpc>
                <a:spcPts val="1680"/>
              </a:lnSpc>
              <a:buSzPct val="100000"/>
              <a:buFontTx/>
              <a:buAutoNum type="arabicPeriod"/>
            </a:pPr>
            <a:r>
              <a:rPr lang="en-US" sz="1200" dirty="0">
                <a:solidFill>
                  <a:srgbClr val="3D4658"/>
                </a:solidFill>
                <a:latin typeface="Times New Roman" panose="02020603050405020304" charset="0"/>
                <a:ea typeface="IBM Plex Sans" pitchFamily="34" charset="-122"/>
                <a:cs typeface="Times New Roman" panose="02020603050405020304" charset="0"/>
              </a:rPr>
              <a:t>Categories: missing → UNKNOWN, rare (&lt; 10) → OTHER</a:t>
            </a:r>
            <a:endParaRPr lang="en-US" sz="1200" dirty="0">
              <a:latin typeface="Times New Roman" panose="02020603050405020304" charset="0"/>
              <a:cs typeface="Times New Roman" panose="02020603050405020304" charset="0"/>
            </a:endParaRPr>
          </a:p>
          <a:p>
            <a:pPr marL="168910" indent="-168910" algn="l">
              <a:lnSpc>
                <a:spcPts val="1680"/>
              </a:lnSpc>
              <a:buSzPct val="100000"/>
              <a:buFontTx/>
              <a:buAutoNum type="arabicPeriod"/>
            </a:pPr>
            <a:r>
              <a:rPr lang="en-US" sz="1200" dirty="0">
                <a:solidFill>
                  <a:srgbClr val="3D4658"/>
                </a:solidFill>
                <a:latin typeface="Times New Roman" panose="02020603050405020304" charset="0"/>
                <a:ea typeface="IBM Plex Sans" pitchFamily="34" charset="-122"/>
                <a:cs typeface="Times New Roman" panose="02020603050405020304" charset="0"/>
              </a:rPr>
              <a:t>Image tokens: channel z-score + PCA → 64-d</a:t>
            </a:r>
            <a:endParaRPr lang="en-US" sz="1200" dirty="0">
              <a:latin typeface="Times New Roman" panose="02020603050405020304" charset="0"/>
              <a:cs typeface="Times New Roman" panose="02020603050405020304" charset="0"/>
            </a:endParaRPr>
          </a:p>
        </p:txBody>
      </p:sp>
      <p:sp>
        <p:nvSpPr>
          <p:cNvPr id="69" name="Shape 63"/>
          <p:cNvSpPr/>
          <p:nvPr/>
        </p:nvSpPr>
        <p:spPr>
          <a:xfrm>
            <a:off x="7937500" y="3472180"/>
            <a:ext cx="3441700" cy="1686560"/>
          </a:xfrm>
          <a:custGeom>
            <a:avLst/>
            <a:gdLst/>
            <a:ahLst/>
            <a:cxnLst/>
            <a:rect l="l" t="t" r="r" b="b"/>
            <a:pathLst>
              <a:path w="3441700" h="1686560">
                <a:moveTo>
                  <a:pt x="0" y="0"/>
                </a:moveTo>
                <a:lnTo>
                  <a:pt x="3365500" y="0"/>
                </a:lnTo>
                <a:arcTo wR="76200" hR="76200" stAng="16200000" swAng="5400000"/>
                <a:lnTo>
                  <a:pt x="3441700" y="1610360"/>
                </a:lnTo>
                <a:arcTo wR="76200" hR="76200" stAng="0" swAng="5400000"/>
                <a:lnTo>
                  <a:pt x="0" y="1686560"/>
                </a:lnTo>
                <a:lnTo>
                  <a:pt x="0" y="0"/>
                </a:lnTo>
                <a:close/>
              </a:path>
            </a:pathLst>
          </a:custGeom>
          <a:solidFill>
            <a:srgbClr val="E4ECF5"/>
          </a:solidFill>
        </p:spPr>
      </p:sp>
      <p:sp>
        <p:nvSpPr>
          <p:cNvPr id="70" name="Shape 64"/>
          <p:cNvSpPr/>
          <p:nvPr/>
        </p:nvSpPr>
        <p:spPr>
          <a:xfrm>
            <a:off x="7937500" y="3472180"/>
            <a:ext cx="3441700" cy="1686560"/>
          </a:xfrm>
          <a:custGeom>
            <a:avLst/>
            <a:gdLst/>
            <a:ahLst/>
            <a:cxnLst/>
            <a:rect l="l" t="t" r="r" b="b"/>
            <a:pathLst>
              <a:path w="3441700" h="1686560">
                <a:moveTo>
                  <a:pt x="38100" y="1686560"/>
                </a:moveTo>
                <a:lnTo>
                  <a:pt x="0" y="1686560"/>
                </a:lnTo>
                <a:lnTo>
                  <a:pt x="0" y="0"/>
                </a:lnTo>
                <a:lnTo>
                  <a:pt x="38100" y="0"/>
                </a:lnTo>
                <a:lnTo>
                  <a:pt x="38100" y="1686560"/>
                </a:lnTo>
                <a:close/>
              </a:path>
            </a:pathLst>
          </a:custGeom>
          <a:solidFill>
            <a:srgbClr val="2B5F97"/>
          </a:solidFill>
        </p:spPr>
      </p:sp>
      <p:sp>
        <p:nvSpPr>
          <p:cNvPr id="71" name="Text 65"/>
          <p:cNvSpPr/>
          <p:nvPr/>
        </p:nvSpPr>
        <p:spPr>
          <a:xfrm>
            <a:off x="8112760" y="3573780"/>
            <a:ext cx="3220542" cy="223520"/>
          </a:xfrm>
          <a:prstGeom prst="rect">
            <a:avLst/>
          </a:prstGeom>
          <a:noFill/>
        </p:spPr>
        <p:txBody>
          <a:bodyPr wrap="square" lIns="0" tIns="0" rIns="0" bIns="0" rtlCol="0" anchor="t">
            <a:normAutofit/>
          </a:bodyPr>
          <a:lstStyle/>
          <a:p>
            <a:pPr marL="0" indent="0" algn="l">
              <a:lnSpc>
                <a:spcPts val="1560"/>
              </a:lnSpc>
              <a:buNone/>
            </a:pPr>
            <a:r>
              <a:rPr lang="en-US" sz="1300" b="1" dirty="0">
                <a:solidFill>
                  <a:srgbClr val="14213D"/>
                </a:solidFill>
                <a:latin typeface="Times New Roman" panose="02020603050405020304" charset="0"/>
                <a:ea typeface="IBM Plex Sans" pitchFamily="34" charset="-122"/>
                <a:cs typeface="Times New Roman" panose="02020603050405020304" charset="0"/>
              </a:rPr>
              <a:t>Leakage control</a:t>
            </a:r>
            <a:endParaRPr lang="en-US" sz="130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72" name="Text 66"/>
          <p:cNvSpPr/>
          <p:nvPr/>
        </p:nvSpPr>
        <p:spPr>
          <a:xfrm>
            <a:off x="8211566" y="3822700"/>
            <a:ext cx="3114116" cy="1259840"/>
          </a:xfrm>
          <a:prstGeom prst="rect">
            <a:avLst/>
          </a:prstGeom>
          <a:noFill/>
        </p:spPr>
        <p:txBody>
          <a:bodyPr wrap="square" lIns="0" tIns="0" rIns="0" bIns="0" rtlCol="0" anchor="t">
            <a:normAutofit/>
          </a:bodyPr>
          <a:lstStyle/>
          <a:p>
            <a:pPr marL="154940" indent="-154940" algn="l">
              <a:lnSpc>
                <a:spcPts val="1620"/>
              </a:lnSpc>
              <a:buSzPct val="100000"/>
              <a:buChar char="•"/>
            </a:pPr>
            <a:r>
              <a:rPr lang="en-US" sz="1200" dirty="0">
                <a:solidFill>
                  <a:srgbClr val="3D4658"/>
                </a:solidFill>
                <a:latin typeface="Times New Roman" panose="02020603050405020304" charset="0"/>
                <a:ea typeface="IBM Plex Sans" pitchFamily="34" charset="-122"/>
                <a:cs typeface="Times New Roman" panose="02020603050405020304" charset="0"/>
              </a:rPr>
              <a:t>Labs and features strictly before t0</a:t>
            </a:r>
            <a:endParaRPr lang="en-US" sz="1200" dirty="0">
              <a:latin typeface="Times New Roman" panose="02020603050405020304" charset="0"/>
              <a:cs typeface="Times New Roman" panose="02020603050405020304" charset="0"/>
            </a:endParaRPr>
          </a:p>
          <a:p>
            <a:pPr marL="154940" indent="-154940" algn="l">
              <a:lnSpc>
                <a:spcPts val="1620"/>
              </a:lnSpc>
              <a:buSzPct val="100000"/>
              <a:buChar char="•"/>
            </a:pPr>
            <a:r>
              <a:rPr lang="en-US" sz="1200" dirty="0">
                <a:solidFill>
                  <a:srgbClr val="3D4658"/>
                </a:solidFill>
                <a:latin typeface="Times New Roman" panose="02020603050405020304" charset="0"/>
                <a:ea typeface="IBM Plex Sans" pitchFamily="34" charset="-122"/>
                <a:cs typeface="Times New Roman" panose="02020603050405020304" charset="0"/>
              </a:rPr>
              <a:t>History only from earlier, discharged admissions</a:t>
            </a:r>
            <a:endParaRPr lang="en-US" sz="1200" dirty="0">
              <a:latin typeface="Times New Roman" panose="02020603050405020304" charset="0"/>
              <a:cs typeface="Times New Roman" panose="02020603050405020304" charset="0"/>
            </a:endParaRPr>
          </a:p>
          <a:p>
            <a:pPr marL="154940" indent="-154940" algn="l">
              <a:lnSpc>
                <a:spcPts val="1620"/>
              </a:lnSpc>
              <a:buSzPct val="100000"/>
              <a:buChar char="•"/>
            </a:pPr>
            <a:r>
              <a:rPr lang="en-US" sz="1200" dirty="0">
                <a:solidFill>
                  <a:srgbClr val="3D4658"/>
                </a:solidFill>
                <a:latin typeface="Times New Roman" panose="02020603050405020304" charset="0"/>
                <a:ea typeface="IBM Plex Sans" pitchFamily="34" charset="-122"/>
                <a:cs typeface="Times New Roman" panose="02020603050405020304" charset="0"/>
              </a:rPr>
              <a:t>Dropped discharge_location: "DIED" covered 97% of deaths</a:t>
            </a:r>
            <a:endParaRPr lang="en-US" sz="1200" dirty="0">
              <a:latin typeface="Times New Roman" panose="02020603050405020304" charset="0"/>
              <a:cs typeface="Times New Roman" panose="02020603050405020304" charset="0"/>
            </a:endParaRPr>
          </a:p>
          <a:p>
            <a:pPr marL="154940" indent="-154940" algn="l">
              <a:lnSpc>
                <a:spcPts val="1620"/>
              </a:lnSpc>
              <a:buSzPct val="100000"/>
              <a:buChar char="•"/>
            </a:pPr>
            <a:r>
              <a:rPr lang="en-US" sz="1200" dirty="0">
                <a:solidFill>
                  <a:srgbClr val="3D4658"/>
                </a:solidFill>
                <a:latin typeface="Times New Roman" panose="02020603050405020304" charset="0"/>
                <a:ea typeface="IBM Plex Sans" pitchFamily="34" charset="-122"/>
                <a:cs typeface="Times New Roman" panose="02020603050405020304" charset="0"/>
              </a:rPr>
              <a:t>Patient-level folds: no patient in two folds</a:t>
            </a:r>
            <a:endParaRPr lang="en-US" sz="1200" dirty="0">
              <a:latin typeface="Times New Roman" panose="02020603050405020304" charset="0"/>
              <a:cs typeface="Times New Roman" panose="02020603050405020304" charset="0"/>
            </a:endParaRPr>
          </a:p>
        </p:txBody>
      </p:sp>
      <p:sp>
        <p:nvSpPr>
          <p:cNvPr id="74" name="Text 68"/>
          <p:cNvSpPr/>
          <p:nvPr/>
        </p:nvSpPr>
        <p:spPr>
          <a:xfrm>
            <a:off x="10566400" y="6238241"/>
            <a:ext cx="812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280"/>
                </a:solidFill>
                <a:latin typeface="Times New Roman" panose="02020603050405020304" charset="0"/>
                <a:ea typeface="IBM Plex Sans" pitchFamily="34" charset="-122"/>
                <a:cs typeface="Times New Roman" panose="02020603050405020304" charset="0"/>
              </a:rPr>
              <a:t>2 / 3</a:t>
            </a:r>
            <a:endParaRPr lang="en-US" sz="1200" dirty="0">
              <a:solidFill>
                <a:srgbClr val="6B7280"/>
              </a:solidFill>
              <a:latin typeface="Times New Roman" panose="02020603050405020304" charset="0"/>
              <a:ea typeface="IBM Plex Sans" pitchFamily="34" charset="-122"/>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8636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Times New Roman" panose="02020603050405020304" charset="0"/>
                <a:ea typeface="IBM Plex Sans" pitchFamily="34" charset="-122"/>
                <a:cs typeface="Times New Roman" panose="02020603050405020304" charset="0"/>
              </a:rPr>
              <a:t>Data integration (2): two-stage fusion into a joint embedding</a:t>
            </a:r>
            <a:endParaRPr lang="en-US" sz="3000" b="1" i="0" dirty="0">
              <a:solidFill>
                <a:srgbClr val="14213D"/>
              </a:solidFill>
              <a:latin typeface="Times New Roman" panose="02020603050405020304" charset="0"/>
              <a:ea typeface="IBM Plex Sans" pitchFamily="34" charset="-122"/>
              <a:cs typeface="Times New Roman" panose="02020603050405020304" charset="0"/>
            </a:endParaRPr>
          </a:p>
        </p:txBody>
      </p:sp>
      <p:sp>
        <p:nvSpPr>
          <p:cNvPr id="3" name="Shape 1"/>
          <p:cNvSpPr/>
          <p:nvPr/>
        </p:nvSpPr>
        <p:spPr>
          <a:xfrm>
            <a:off x="819150" y="1733550"/>
            <a:ext cx="3149600" cy="756364"/>
          </a:xfrm>
          <a:prstGeom prst="roundRect">
            <a:avLst>
              <a:gd name="adj" fmla="val 10914"/>
            </a:avLst>
          </a:prstGeom>
          <a:solidFill>
            <a:srgbClr val="FDFCF9"/>
          </a:solidFill>
          <a:ln w="12700">
            <a:solidFill>
              <a:srgbClr val="9C4F14"/>
            </a:solidFill>
            <a:prstDash val="solid"/>
          </a:ln>
        </p:spPr>
      </p:sp>
      <p:sp>
        <p:nvSpPr>
          <p:cNvPr id="4" name="Text 2"/>
          <p:cNvSpPr/>
          <p:nvPr/>
        </p:nvSpPr>
        <p:spPr>
          <a:xfrm>
            <a:off x="962660" y="1838961"/>
            <a:ext cx="2948458" cy="203041"/>
          </a:xfrm>
          <a:prstGeom prst="rect">
            <a:avLst/>
          </a:prstGeom>
          <a:noFill/>
        </p:spPr>
        <p:txBody>
          <a:bodyPr wrap="square" lIns="0" tIns="0" rIns="0" bIns="0" rtlCol="0" anchor="t">
            <a:normAutofit/>
          </a:bodyPr>
          <a:lstStyle/>
          <a:p>
            <a:pPr marL="0" indent="0" algn="l">
              <a:lnSpc>
                <a:spcPts val="1425"/>
              </a:lnSpc>
              <a:buNone/>
            </a:pPr>
            <a:r>
              <a:rPr lang="en-US" sz="1185" b="1" dirty="0">
                <a:solidFill>
                  <a:srgbClr val="9C4F14"/>
                </a:solidFill>
                <a:latin typeface="Times New Roman" panose="02020603050405020304" charset="0"/>
                <a:ea typeface="IBM Plex Sans" pitchFamily="34" charset="-122"/>
                <a:cs typeface="Times New Roman" panose="02020603050405020304" charset="0"/>
              </a:rPr>
              <a:t>Clinical tokens × 54</a:t>
            </a:r>
            <a:endParaRPr lang="en-US" sz="1185" b="1" dirty="0">
              <a:solidFill>
                <a:srgbClr val="9C4F14"/>
              </a:solidFill>
              <a:latin typeface="Times New Roman" panose="02020603050405020304" charset="0"/>
              <a:ea typeface="IBM Plex Sans" pitchFamily="34" charset="-122"/>
              <a:cs typeface="Times New Roman" panose="02020603050405020304" charset="0"/>
            </a:endParaRPr>
          </a:p>
        </p:txBody>
      </p:sp>
      <p:sp>
        <p:nvSpPr>
          <p:cNvPr id="5" name="Text 3"/>
          <p:cNvSpPr/>
          <p:nvPr/>
        </p:nvSpPr>
        <p:spPr>
          <a:xfrm>
            <a:off x="962660" y="2042001"/>
            <a:ext cx="2999740" cy="367903"/>
          </a:xfrm>
          <a:prstGeom prst="rect">
            <a:avLst/>
          </a:prstGeom>
          <a:noFill/>
        </p:spPr>
        <p:txBody>
          <a:bodyPr wrap="square" lIns="0" tIns="0" rIns="0" bIns="0" rtlCol="0" anchor="t">
            <a:normAutofit/>
          </a:bodyPr>
          <a:lstStyle/>
          <a:p>
            <a:pPr marL="0" indent="0" algn="l">
              <a:lnSpc>
                <a:spcPts val="1435"/>
              </a:lnSpc>
              <a:buNone/>
            </a:pPr>
            <a:r>
              <a:rPr lang="en-US" sz="1060" dirty="0">
                <a:solidFill>
                  <a:srgbClr val="3D4658"/>
                </a:solidFill>
                <a:latin typeface="Times New Roman" panose="02020603050405020304" charset="0"/>
                <a:ea typeface="IBM Plex Sans" pitchFamily="34" charset="-122"/>
                <a:cs typeface="Times New Roman" panose="02020603050405020304" charset="0"/>
              </a:rPr>
              <a:t>One per feature; missing → learned embedding</a:t>
            </a:r>
            <a:endParaRPr lang="en-US" sz="106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6" name="Shape 4"/>
          <p:cNvSpPr/>
          <p:nvPr/>
        </p:nvSpPr>
        <p:spPr>
          <a:xfrm>
            <a:off x="4108450" y="1733550"/>
            <a:ext cx="3149600" cy="756364"/>
          </a:xfrm>
          <a:prstGeom prst="roundRect">
            <a:avLst>
              <a:gd name="adj" fmla="val 10914"/>
            </a:avLst>
          </a:prstGeom>
          <a:solidFill>
            <a:srgbClr val="FDFCF9"/>
          </a:solidFill>
          <a:ln w="12700">
            <a:solidFill>
              <a:srgbClr val="2B5F97"/>
            </a:solidFill>
            <a:prstDash val="solid"/>
          </a:ln>
        </p:spPr>
      </p:sp>
      <p:sp>
        <p:nvSpPr>
          <p:cNvPr id="7" name="Text 5"/>
          <p:cNvSpPr/>
          <p:nvPr/>
        </p:nvSpPr>
        <p:spPr>
          <a:xfrm>
            <a:off x="4251960" y="1838961"/>
            <a:ext cx="2948458"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2B5F97"/>
                </a:solidFill>
                <a:latin typeface="Times New Roman" panose="02020603050405020304" charset="0"/>
                <a:ea typeface="IBM Plex Sans" pitchFamily="34" charset="-122"/>
                <a:cs typeface="Times New Roman" panose="02020603050405020304" charset="0"/>
              </a:rPr>
              <a:t>Image tokens × 49</a:t>
            </a:r>
            <a:endParaRPr lang="en-US" sz="1400" b="1" dirty="0">
              <a:solidFill>
                <a:srgbClr val="2B5F97"/>
              </a:solidFill>
              <a:latin typeface="Times New Roman" panose="02020603050405020304" charset="0"/>
              <a:ea typeface="IBM Plex Sans" pitchFamily="34" charset="-122"/>
              <a:cs typeface="Times New Roman" panose="02020603050405020304" charset="0"/>
            </a:endParaRPr>
          </a:p>
        </p:txBody>
      </p:sp>
      <p:sp>
        <p:nvSpPr>
          <p:cNvPr id="8" name="Text 6"/>
          <p:cNvSpPr/>
          <p:nvPr/>
        </p:nvSpPr>
        <p:spPr>
          <a:xfrm>
            <a:off x="4251960" y="2077720"/>
            <a:ext cx="2948458" cy="23114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7×7 spatial regions, 64-d each</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9" name="Image 0" descr="arrow-down"/>
          <p:cNvPicPr>
            <a:picLocks noChangeAspect="1"/>
          </p:cNvPicPr>
          <p:nvPr/>
        </p:nvPicPr>
        <p:blipFill>
          <a:blip r:embed="rId1"/>
          <a:srcRect l="-736" r="-736"/>
          <a:stretch>
            <a:fillRect/>
          </a:stretch>
        </p:blipFill>
        <p:spPr>
          <a:xfrm>
            <a:off x="3981450" y="2572465"/>
            <a:ext cx="114300" cy="156448"/>
          </a:xfrm>
          <a:prstGeom prst="rect">
            <a:avLst/>
          </a:prstGeom>
        </p:spPr>
      </p:pic>
      <p:sp>
        <p:nvSpPr>
          <p:cNvPr id="10" name="Shape 7"/>
          <p:cNvSpPr/>
          <p:nvPr/>
        </p:nvSpPr>
        <p:spPr>
          <a:xfrm>
            <a:off x="812800" y="2805113"/>
            <a:ext cx="6451600" cy="741997"/>
          </a:xfrm>
          <a:prstGeom prst="roundRect">
            <a:avLst>
              <a:gd name="adj" fmla="val 11981"/>
            </a:avLst>
          </a:prstGeom>
          <a:solidFill>
            <a:srgbClr val="ECEAE3"/>
          </a:solidFill>
        </p:spPr>
      </p:sp>
      <p:sp>
        <p:nvSpPr>
          <p:cNvPr id="11" name="Text 8"/>
          <p:cNvSpPr/>
          <p:nvPr/>
        </p:nvSpPr>
        <p:spPr>
          <a:xfrm>
            <a:off x="952500" y="2906713"/>
            <a:ext cx="6357366" cy="210264"/>
          </a:xfrm>
          <a:prstGeom prst="rect">
            <a:avLst/>
          </a:prstGeom>
          <a:noFill/>
        </p:spPr>
        <p:txBody>
          <a:bodyPr wrap="square" lIns="0" tIns="0" rIns="0" bIns="0" rtlCol="0" anchor="t">
            <a:normAutofit/>
          </a:bodyPr>
          <a:lstStyle/>
          <a:p>
            <a:pPr marL="0" indent="0" algn="l">
              <a:lnSpc>
                <a:spcPts val="1470"/>
              </a:lnSpc>
              <a:buNone/>
            </a:pPr>
            <a:r>
              <a:rPr lang="en-US" sz="1050" b="1" dirty="0">
                <a:solidFill>
                  <a:srgbClr val="14213D"/>
                </a:solidFill>
                <a:latin typeface="Times New Roman" panose="02020603050405020304" charset="0"/>
                <a:ea typeface="IBM Plex Sans" pitchFamily="34" charset="-122"/>
                <a:cs typeface="Times New Roman" panose="02020603050405020304" charset="0"/>
              </a:rPr>
              <a:t>Stage 1 · train each modality, early-stop, then freeze</a:t>
            </a:r>
            <a:endParaRPr lang="en-US" sz="105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12" name="Shape 9"/>
          <p:cNvSpPr/>
          <p:nvPr/>
        </p:nvSpPr>
        <p:spPr>
          <a:xfrm>
            <a:off x="958850" y="3161427"/>
            <a:ext cx="3009900" cy="277733"/>
          </a:xfrm>
          <a:prstGeom prst="roundRect">
            <a:avLst>
              <a:gd name="adj" fmla="val 20577"/>
            </a:avLst>
          </a:prstGeom>
          <a:solidFill>
            <a:srgbClr val="FDFCF9"/>
          </a:solidFill>
          <a:ln w="12700">
            <a:solidFill>
              <a:srgbClr val="9C4F14"/>
            </a:solidFill>
            <a:prstDash val="solid"/>
          </a:ln>
        </p:spPr>
      </p:sp>
      <p:sp>
        <p:nvSpPr>
          <p:cNvPr id="13" name="Text 10"/>
          <p:cNvSpPr/>
          <p:nvPr/>
        </p:nvSpPr>
        <p:spPr>
          <a:xfrm>
            <a:off x="1064260" y="3216037"/>
            <a:ext cx="2883052" cy="193913"/>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clinical_only → 64-d</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14" name="Shape 11"/>
          <p:cNvSpPr/>
          <p:nvPr/>
        </p:nvSpPr>
        <p:spPr>
          <a:xfrm>
            <a:off x="4108450" y="3161427"/>
            <a:ext cx="3009900" cy="277733"/>
          </a:xfrm>
          <a:prstGeom prst="roundRect">
            <a:avLst>
              <a:gd name="adj" fmla="val 20577"/>
            </a:avLst>
          </a:prstGeom>
          <a:solidFill>
            <a:srgbClr val="FDFCF9"/>
          </a:solidFill>
          <a:ln w="12700">
            <a:solidFill>
              <a:srgbClr val="2B5F97"/>
            </a:solidFill>
            <a:prstDash val="solid"/>
          </a:ln>
        </p:spPr>
      </p:sp>
      <p:sp>
        <p:nvSpPr>
          <p:cNvPr id="15" name="Text 12"/>
          <p:cNvSpPr/>
          <p:nvPr/>
        </p:nvSpPr>
        <p:spPr>
          <a:xfrm>
            <a:off x="4213860" y="3216037"/>
            <a:ext cx="2883052" cy="193913"/>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D4658"/>
                </a:solidFill>
                <a:latin typeface="Times New Roman" panose="02020603050405020304" charset="0"/>
                <a:ea typeface="IBM Plex Sans" pitchFamily="34" charset="-122"/>
                <a:cs typeface="Times New Roman" panose="02020603050405020304" charset="0"/>
              </a:rPr>
              <a:t>image_only → 64-d</a:t>
            </a:r>
            <a:endParaRPr lang="en-US" sz="1200" dirty="0">
              <a:solidFill>
                <a:srgbClr val="3D4658"/>
              </a:solidFill>
              <a:latin typeface="Times New Roman" panose="02020603050405020304" charset="0"/>
              <a:ea typeface="IBM Plex Sans" pitchFamily="34" charset="-122"/>
              <a:cs typeface="Times New Roman" panose="02020603050405020304" charset="0"/>
            </a:endParaRPr>
          </a:p>
        </p:txBody>
      </p:sp>
      <p:pic>
        <p:nvPicPr>
          <p:cNvPr id="16" name="Image 1" descr="arrow-down"/>
          <p:cNvPicPr>
            <a:picLocks noChangeAspect="1"/>
          </p:cNvPicPr>
          <p:nvPr/>
        </p:nvPicPr>
        <p:blipFill>
          <a:blip r:embed="rId1"/>
          <a:srcRect l="-736" r="-736"/>
          <a:stretch>
            <a:fillRect/>
          </a:stretch>
        </p:blipFill>
        <p:spPr>
          <a:xfrm>
            <a:off x="3981450" y="3623311"/>
            <a:ext cx="114300" cy="156448"/>
          </a:xfrm>
          <a:prstGeom prst="rect">
            <a:avLst/>
          </a:prstGeom>
        </p:spPr>
      </p:pic>
      <p:sp>
        <p:nvSpPr>
          <p:cNvPr id="17" name="Shape 13"/>
          <p:cNvSpPr/>
          <p:nvPr/>
        </p:nvSpPr>
        <p:spPr>
          <a:xfrm>
            <a:off x="812800" y="3855958"/>
            <a:ext cx="6451600" cy="881380"/>
          </a:xfrm>
          <a:prstGeom prst="roundRect">
            <a:avLst>
              <a:gd name="adj" fmla="val 10086"/>
            </a:avLst>
          </a:prstGeom>
          <a:solidFill>
            <a:srgbClr val="14213D"/>
          </a:solidFill>
        </p:spPr>
      </p:sp>
      <p:sp>
        <p:nvSpPr>
          <p:cNvPr id="18" name="Text 14"/>
          <p:cNvSpPr/>
          <p:nvPr/>
        </p:nvSpPr>
        <p:spPr>
          <a:xfrm>
            <a:off x="965200" y="3970258"/>
            <a:ext cx="6331204" cy="209153"/>
          </a:xfrm>
          <a:prstGeom prst="rect">
            <a:avLst/>
          </a:prstGeom>
          <a:noFill/>
        </p:spPr>
        <p:txBody>
          <a:bodyPr wrap="square" lIns="0" tIns="0" rIns="0" bIns="0" rtlCol="0" anchor="t">
            <a:normAutofit/>
          </a:bodyPr>
          <a:lstStyle/>
          <a:p>
            <a:pPr marL="0" indent="0" algn="l">
              <a:lnSpc>
                <a:spcPts val="1470"/>
              </a:lnSpc>
              <a:buNone/>
            </a:pPr>
            <a:r>
              <a:rPr lang="en-US" sz="1050" b="1" dirty="0">
                <a:solidFill>
                  <a:srgbClr val="F7F6F2"/>
                </a:solidFill>
                <a:latin typeface="Times New Roman" panose="02020603050405020304" charset="0"/>
                <a:ea typeface="IBM Plex Sans" pitchFamily="34" charset="-122"/>
                <a:cs typeface="Times New Roman" panose="02020603050405020304" charset="0"/>
              </a:rPr>
              <a:t>Stage 2 · fusion (only the fusion module is trained)</a:t>
            </a:r>
            <a:endParaRPr lang="en-US" sz="1050" b="1" dirty="0">
              <a:solidFill>
                <a:srgbClr val="F7F6F2"/>
              </a:solidFill>
              <a:latin typeface="Times New Roman" panose="02020603050405020304" charset="0"/>
              <a:ea typeface="IBM Plex Sans" pitchFamily="34" charset="-122"/>
              <a:cs typeface="Times New Roman" panose="02020603050405020304" charset="0"/>
            </a:endParaRPr>
          </a:p>
        </p:txBody>
      </p:sp>
      <p:sp>
        <p:nvSpPr>
          <p:cNvPr id="19" name="Text 15"/>
          <p:cNvSpPr/>
          <p:nvPr/>
        </p:nvSpPr>
        <p:spPr>
          <a:xfrm>
            <a:off x="965200" y="4204812"/>
            <a:ext cx="6331204" cy="209074"/>
          </a:xfrm>
          <a:prstGeom prst="rect">
            <a:avLst/>
          </a:prstGeom>
          <a:noFill/>
        </p:spPr>
        <p:txBody>
          <a:bodyPr wrap="square" lIns="0" tIns="0" rIns="0" bIns="0" rtlCol="0" anchor="t">
            <a:normAutofit/>
          </a:bodyPr>
          <a:lstStyle/>
          <a:p>
            <a:pPr marL="0" indent="0" algn="l">
              <a:lnSpc>
                <a:spcPts val="1470"/>
              </a:lnSpc>
              <a:buNone/>
            </a:pPr>
            <a:r>
              <a:rPr lang="en-US" sz="1050" dirty="0">
                <a:solidFill>
                  <a:srgbClr val="C9D3E3"/>
                </a:solidFill>
                <a:latin typeface="Times New Roman" panose="02020603050405020304" charset="0"/>
                <a:ea typeface="IBM Plex Sans" pitchFamily="34" charset="-122"/>
                <a:cs typeface="Times New Roman" panose="02020603050405020304" charset="0"/>
              </a:rPr>
              <a:t>Late fusion: w1 · logit(clinical) + w2 · logit(image) + b</a:t>
            </a:r>
            <a:endParaRPr lang="en-US" sz="1050" dirty="0">
              <a:solidFill>
                <a:srgbClr val="C9D3E3"/>
              </a:solidFill>
              <a:latin typeface="Times New Roman" panose="02020603050405020304" charset="0"/>
              <a:ea typeface="IBM Plex Sans" pitchFamily="34" charset="-122"/>
              <a:cs typeface="Times New Roman" panose="02020603050405020304" charset="0"/>
            </a:endParaRPr>
          </a:p>
        </p:txBody>
      </p:sp>
      <p:sp>
        <p:nvSpPr>
          <p:cNvPr id="20" name="Text 16"/>
          <p:cNvSpPr/>
          <p:nvPr/>
        </p:nvSpPr>
        <p:spPr>
          <a:xfrm>
            <a:off x="965200" y="4439286"/>
            <a:ext cx="6331204" cy="209153"/>
          </a:xfrm>
          <a:prstGeom prst="rect">
            <a:avLst/>
          </a:prstGeom>
          <a:noFill/>
        </p:spPr>
        <p:txBody>
          <a:bodyPr wrap="square" lIns="0" tIns="0" rIns="0" bIns="0" rtlCol="0" anchor="t">
            <a:normAutofit/>
          </a:bodyPr>
          <a:lstStyle/>
          <a:p>
            <a:pPr marL="0" indent="0" algn="l">
              <a:lnSpc>
                <a:spcPts val="1470"/>
              </a:lnSpc>
              <a:buNone/>
            </a:pPr>
            <a:r>
              <a:rPr lang="en-US" sz="1050" dirty="0">
                <a:solidFill>
                  <a:srgbClr val="C9D3E3"/>
                </a:solidFill>
                <a:latin typeface="Times New Roman" panose="02020603050405020304" charset="0"/>
                <a:ea typeface="IBM Plex Sans" pitchFamily="34" charset="-122"/>
                <a:cs typeface="Times New Roman" panose="02020603050405020304" charset="0"/>
              </a:rPr>
              <a:t>+ interaction residual (zero-init): concat | gated | </a:t>
            </a:r>
            <a:r>
              <a:rPr lang="en-US" sz="1050" b="1" dirty="0">
                <a:solidFill>
                  <a:srgbClr val="C9D3E3"/>
                </a:solidFill>
                <a:latin typeface="Times New Roman" panose="02020603050405020304" charset="0"/>
                <a:ea typeface="IBM Plex Sans" pitchFamily="34" charset="-122"/>
                <a:cs typeface="Times New Roman" panose="02020603050405020304" charset="0"/>
              </a:rPr>
              <a:t>bidirectional cross-attention</a:t>
            </a:r>
            <a:endParaRPr lang="en-US" sz="1050" dirty="0">
              <a:latin typeface="Times New Roman" panose="02020603050405020304" charset="0"/>
              <a:cs typeface="Times New Roman" panose="02020603050405020304" charset="0"/>
            </a:endParaRPr>
          </a:p>
        </p:txBody>
      </p:sp>
      <p:pic>
        <p:nvPicPr>
          <p:cNvPr id="21" name="Image 2" descr="arrow-down"/>
          <p:cNvPicPr>
            <a:picLocks noChangeAspect="1"/>
          </p:cNvPicPr>
          <p:nvPr/>
        </p:nvPicPr>
        <p:blipFill>
          <a:blip r:embed="rId1"/>
          <a:srcRect l="-736" r="-736"/>
          <a:stretch>
            <a:fillRect/>
          </a:stretch>
        </p:blipFill>
        <p:spPr>
          <a:xfrm>
            <a:off x="3981450" y="4813539"/>
            <a:ext cx="114300" cy="156448"/>
          </a:xfrm>
          <a:prstGeom prst="rect">
            <a:avLst/>
          </a:prstGeom>
        </p:spPr>
      </p:pic>
      <p:sp>
        <p:nvSpPr>
          <p:cNvPr id="22" name="Shape 17"/>
          <p:cNvSpPr/>
          <p:nvPr/>
        </p:nvSpPr>
        <p:spPr>
          <a:xfrm>
            <a:off x="819150" y="5052537"/>
            <a:ext cx="6438900" cy="783114"/>
          </a:xfrm>
          <a:prstGeom prst="roundRect">
            <a:avLst>
              <a:gd name="adj" fmla="val 10541"/>
            </a:avLst>
          </a:prstGeom>
          <a:solidFill>
            <a:srgbClr val="FDFCF9"/>
          </a:solidFill>
          <a:ln w="12700">
            <a:solidFill>
              <a:srgbClr val="14213D"/>
            </a:solidFill>
            <a:prstDash val="solid"/>
          </a:ln>
        </p:spPr>
      </p:sp>
      <p:sp>
        <p:nvSpPr>
          <p:cNvPr id="23" name="Text 18"/>
          <p:cNvSpPr/>
          <p:nvPr/>
        </p:nvSpPr>
        <p:spPr>
          <a:xfrm>
            <a:off x="962660" y="5157947"/>
            <a:ext cx="6336436" cy="212169"/>
          </a:xfrm>
          <a:prstGeom prst="rect">
            <a:avLst/>
          </a:prstGeom>
          <a:noFill/>
        </p:spPr>
        <p:txBody>
          <a:bodyPr wrap="square" lIns="0" tIns="0" rIns="0" bIns="0" rtlCol="0" anchor="t">
            <a:normAutofit/>
          </a:bodyPr>
          <a:lstStyle/>
          <a:p>
            <a:pPr marL="0" indent="0" algn="l">
              <a:lnSpc>
                <a:spcPts val="1470"/>
              </a:lnSpc>
              <a:buNone/>
            </a:pPr>
            <a:r>
              <a:rPr lang="en-US" sz="1225" b="1" dirty="0">
                <a:solidFill>
                  <a:srgbClr val="14213D"/>
                </a:solidFill>
                <a:latin typeface="Times New Roman" panose="02020603050405020304" charset="0"/>
                <a:ea typeface="IBM Plex Sans" pitchFamily="34" charset="-122"/>
                <a:cs typeface="Times New Roman" panose="02020603050405020304" charset="0"/>
              </a:rPr>
              <a:t>Joint embedding → in-hospital mortality risk</a:t>
            </a:r>
            <a:endParaRPr lang="en-US" sz="1225"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24" name="Text 19"/>
          <p:cNvSpPr/>
          <p:nvPr/>
        </p:nvSpPr>
        <p:spPr>
          <a:xfrm>
            <a:off x="962660" y="5370116"/>
            <a:ext cx="6336436" cy="385524"/>
          </a:xfrm>
          <a:prstGeom prst="rect">
            <a:avLst/>
          </a:prstGeom>
          <a:noFill/>
        </p:spPr>
        <p:txBody>
          <a:bodyPr wrap="square" lIns="0" tIns="0" rIns="0" bIns="0" rtlCol="0" anchor="t">
            <a:normAutofit/>
          </a:bodyPr>
          <a:lstStyle/>
          <a:p>
            <a:pPr marL="0" indent="0" algn="l">
              <a:lnSpc>
                <a:spcPts val="1485"/>
              </a:lnSpc>
              <a:buNone/>
            </a:pPr>
            <a:r>
              <a:rPr lang="en-US" sz="1100" dirty="0">
                <a:solidFill>
                  <a:srgbClr val="3D4658"/>
                </a:solidFill>
                <a:latin typeface="Times New Roman" panose="02020603050405020304" charset="0"/>
                <a:ea typeface="IBM Plex Sans" pitchFamily="34" charset="-122"/>
                <a:cs typeface="Times New Roman" panose="02020603050405020304" charset="0"/>
              </a:rPr>
              <a:t>late 128-d · gated 64-d · cross-attention 128-d; early-fusion baseline: concatenated inputs, 173-d</a:t>
            </a:r>
            <a:endParaRPr lang="en-US" sz="1100" dirty="0">
              <a:solidFill>
                <a:srgbClr val="3D4658"/>
              </a:solidFill>
              <a:latin typeface="Times New Roman" panose="02020603050405020304" charset="0"/>
              <a:ea typeface="IBM Plex Sans" pitchFamily="34" charset="-122"/>
              <a:cs typeface="Times New Roman" panose="02020603050405020304" charset="0"/>
            </a:endParaRPr>
          </a:p>
        </p:txBody>
      </p:sp>
      <p:sp>
        <p:nvSpPr>
          <p:cNvPr id="25" name="Text 20"/>
          <p:cNvSpPr/>
          <p:nvPr/>
        </p:nvSpPr>
        <p:spPr>
          <a:xfrm>
            <a:off x="7569200" y="1727200"/>
            <a:ext cx="3924300" cy="260985"/>
          </a:xfrm>
          <a:prstGeom prst="rect">
            <a:avLst/>
          </a:prstGeom>
          <a:noFill/>
        </p:spPr>
        <p:txBody>
          <a:bodyPr wrap="square" lIns="0" tIns="0" rIns="0" bIns="0" rtlCol="0" anchor="t">
            <a:normAutofit/>
          </a:bodyPr>
          <a:lstStyle/>
          <a:p>
            <a:pPr marL="0" indent="0" algn="l">
              <a:lnSpc>
                <a:spcPts val="1870"/>
              </a:lnSpc>
              <a:buNone/>
            </a:pPr>
            <a:r>
              <a:rPr lang="en-US" sz="1560" b="1" dirty="0">
                <a:solidFill>
                  <a:srgbClr val="14213D"/>
                </a:solidFill>
                <a:latin typeface="Times New Roman" panose="02020603050405020304" charset="0"/>
                <a:ea typeface="IBM Plex Sans" pitchFamily="34" charset="-122"/>
                <a:cs typeface="Times New Roman" panose="02020603050405020304" charset="0"/>
              </a:rPr>
              <a:t>In-hospital mortality AUROC</a:t>
            </a:r>
            <a:endParaRPr lang="en-US" sz="1560"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26" name="Text 21"/>
          <p:cNvSpPr/>
          <p:nvPr/>
        </p:nvSpPr>
        <p:spPr>
          <a:xfrm>
            <a:off x="7569200" y="2077086"/>
            <a:ext cx="3924300" cy="231537"/>
          </a:xfrm>
          <a:prstGeom prst="rect">
            <a:avLst/>
          </a:prstGeom>
          <a:noFill/>
        </p:spPr>
        <p:txBody>
          <a:bodyPr wrap="square" lIns="0" tIns="0" rIns="0" bIns="0" rtlCol="0" anchor="t">
            <a:normAutofit/>
          </a:bodyPr>
          <a:lstStyle/>
          <a:p>
            <a:pPr marL="0" indent="0" algn="l">
              <a:lnSpc>
                <a:spcPts val="1620"/>
              </a:lnSpc>
              <a:buNone/>
            </a:pPr>
            <a:r>
              <a:rPr lang="en-US" sz="1160" dirty="0">
                <a:solidFill>
                  <a:srgbClr val="5C6475"/>
                </a:solidFill>
                <a:latin typeface="Times New Roman" panose="02020603050405020304" charset="0"/>
                <a:ea typeface="IBM Plex Sans" pitchFamily="34" charset="-122"/>
                <a:cs typeface="Times New Roman" panose="02020603050405020304" charset="0"/>
              </a:rPr>
              <a:t>3×5-fold patient-level CV, admission-time features only</a:t>
            </a:r>
            <a:endParaRPr lang="en-US" sz="1160" dirty="0">
              <a:solidFill>
                <a:srgbClr val="5C6475"/>
              </a:solidFill>
              <a:latin typeface="Times New Roman" panose="02020603050405020304" charset="0"/>
              <a:ea typeface="IBM Plex Sans" pitchFamily="34" charset="-122"/>
              <a:cs typeface="Times New Roman" panose="02020603050405020304" charset="0"/>
            </a:endParaRPr>
          </a:p>
        </p:txBody>
      </p:sp>
      <p:graphicFrame>
        <p:nvGraphicFramePr>
          <p:cNvPr id="27" name="Table 0"/>
          <p:cNvGraphicFramePr>
            <a:graphicFrameLocks noGrp="1"/>
          </p:cNvGraphicFramePr>
          <p:nvPr/>
        </p:nvGraphicFramePr>
        <p:xfrm>
          <a:off x="7579360" y="2407682"/>
          <a:ext cx="3799840" cy="2224088"/>
        </p:xfrm>
        <a:graphic>
          <a:graphicData uri="http://schemas.openxmlformats.org/drawingml/2006/table">
            <a:tbl>
              <a:tblPr/>
              <a:tblGrid>
                <a:gridCol w="2659888"/>
                <a:gridCol w="1139952"/>
              </a:tblGrid>
              <a:tr h="370681">
                <a:tc>
                  <a:txBody>
                    <a:bodyPr/>
                    <a:lstStyle/>
                    <a:p>
                      <a:pPr marL="0" indent="0">
                        <a:lnSpc>
                          <a:spcPts val="1895"/>
                        </a:lnSpc>
                        <a:buNone/>
                      </a:pPr>
                      <a:r>
                        <a:rPr lang="en-US" sz="1350" b="1" dirty="0">
                          <a:solidFill>
                            <a:srgbClr val="14213D"/>
                          </a:solidFill>
                          <a:latin typeface="Times New Roman" panose="02020603050405020304" charset="0"/>
                          <a:ea typeface="IBM Plex Sans" pitchFamily="34" charset="-122"/>
                          <a:cs typeface="Times New Roman" panose="02020603050405020304" charset="0"/>
                        </a:rPr>
                        <a:t>Model</a:t>
                      </a:r>
                      <a:endParaRPr lang="en-US" sz="1350" b="1"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895"/>
                        </a:lnSpc>
                        <a:buNone/>
                      </a:pPr>
                      <a:r>
                        <a:rPr lang="en-US" sz="1350" b="1" dirty="0">
                          <a:solidFill>
                            <a:srgbClr val="14213D"/>
                          </a:solidFill>
                          <a:latin typeface="Times New Roman" panose="02020603050405020304" charset="0"/>
                          <a:ea typeface="IBM Plex Sans" pitchFamily="34" charset="-122"/>
                          <a:cs typeface="Times New Roman" panose="02020603050405020304" charset="0"/>
                        </a:rPr>
                        <a:t>AUROC</a:t>
                      </a:r>
                      <a:endParaRPr lang="en-US" sz="1350" b="1"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70681">
                <a:tc>
                  <a:txBody>
                    <a:bodyPr/>
                    <a:lstStyle/>
                    <a:p>
                      <a:pPr marL="0" indent="0">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Clinical only</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0.710</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70681">
                <a:tc>
                  <a:txBody>
                    <a:bodyPr/>
                    <a:lstStyle/>
                    <a:p>
                      <a:pPr marL="0" indent="0">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Image only</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0.785</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70681">
                <a:tc>
                  <a:txBody>
                    <a:bodyPr/>
                    <a:lstStyle/>
                    <a:p>
                      <a:pPr marL="0" indent="0">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Late fusion</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0.809</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70681">
                <a:tc>
                  <a:txBody>
                    <a:bodyPr/>
                    <a:lstStyle/>
                    <a:p>
                      <a:pPr marL="0" indent="0">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Cross-attention fusion</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CF5"/>
                    </a:solidFill>
                  </a:tcPr>
                </a:tc>
                <a:tc>
                  <a:txBody>
                    <a:bodyPr/>
                    <a:lstStyle/>
                    <a:p>
                      <a:pPr marL="0" indent="0" algn="r">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0.809</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CF5"/>
                    </a:solidFill>
                  </a:tcPr>
                </a:tc>
              </a:tr>
              <a:tr h="370681">
                <a:tc>
                  <a:txBody>
                    <a:bodyPr/>
                    <a:lstStyle/>
                    <a:p>
                      <a:pPr marL="0" indent="0">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Early fusion (logistic)</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95"/>
                        </a:lnSpc>
                        <a:buNone/>
                      </a:pPr>
                      <a:r>
                        <a:rPr lang="en-US" sz="1350" dirty="0">
                          <a:solidFill>
                            <a:srgbClr val="14213D"/>
                          </a:solidFill>
                          <a:latin typeface="Times New Roman" panose="02020603050405020304" charset="0"/>
                          <a:ea typeface="IBM Plex Sans" pitchFamily="34" charset="-122"/>
                          <a:cs typeface="Times New Roman" panose="02020603050405020304" charset="0"/>
                        </a:rPr>
                        <a:t>0.813</a:t>
                      </a:r>
                      <a:endParaRPr lang="en-US" sz="1350" dirty="0">
                        <a:solidFill>
                          <a:srgbClr val="14213D"/>
                        </a:solidFill>
                        <a:latin typeface="Times New Roman" panose="02020603050405020304" charset="0"/>
                        <a:ea typeface="IBM Plex Sans" pitchFamily="34" charset="-122"/>
                        <a:cs typeface="Times New Roman" panose="02020603050405020304" charset="0"/>
                      </a:endParaRPr>
                    </a:p>
                  </a:txBody>
                  <a:tcPr marL="60091" marR="60091" marT="60091" marB="60091"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28" name="Shape 22"/>
          <p:cNvSpPr/>
          <p:nvPr/>
        </p:nvSpPr>
        <p:spPr>
          <a:xfrm>
            <a:off x="7569200" y="4745513"/>
            <a:ext cx="3810000" cy="1096486"/>
          </a:xfrm>
          <a:custGeom>
            <a:avLst/>
            <a:gdLst/>
            <a:ahLst/>
            <a:cxnLst/>
            <a:rect l="l" t="t" r="r" b="b"/>
            <a:pathLst>
              <a:path w="3810000" h="1096486">
                <a:moveTo>
                  <a:pt x="0" y="0"/>
                </a:moveTo>
                <a:lnTo>
                  <a:pt x="3733800" y="0"/>
                </a:lnTo>
                <a:arcTo wR="76200" hR="76200" stAng="16200000" swAng="5400000"/>
                <a:lnTo>
                  <a:pt x="3810000" y="1020286"/>
                </a:lnTo>
                <a:arcTo wR="76200" hR="76200" stAng="0" swAng="5400000"/>
                <a:lnTo>
                  <a:pt x="0" y="1096486"/>
                </a:lnTo>
                <a:lnTo>
                  <a:pt x="0" y="0"/>
                </a:lnTo>
                <a:close/>
              </a:path>
            </a:pathLst>
          </a:custGeom>
          <a:solidFill>
            <a:srgbClr val="E4ECF5"/>
          </a:solidFill>
        </p:spPr>
      </p:sp>
      <p:sp>
        <p:nvSpPr>
          <p:cNvPr id="29" name="Shape 23"/>
          <p:cNvSpPr/>
          <p:nvPr/>
        </p:nvSpPr>
        <p:spPr>
          <a:xfrm>
            <a:off x="7569200" y="4745513"/>
            <a:ext cx="3810000" cy="1096486"/>
          </a:xfrm>
          <a:custGeom>
            <a:avLst/>
            <a:gdLst/>
            <a:ahLst/>
            <a:cxnLst/>
            <a:rect l="l" t="t" r="r" b="b"/>
            <a:pathLst>
              <a:path w="3810000" h="1096486">
                <a:moveTo>
                  <a:pt x="38100" y="1096486"/>
                </a:moveTo>
                <a:lnTo>
                  <a:pt x="0" y="1096486"/>
                </a:lnTo>
                <a:lnTo>
                  <a:pt x="0" y="0"/>
                </a:lnTo>
                <a:lnTo>
                  <a:pt x="38100" y="0"/>
                </a:lnTo>
                <a:lnTo>
                  <a:pt x="38100" y="1096486"/>
                </a:lnTo>
                <a:close/>
              </a:path>
            </a:pathLst>
          </a:custGeom>
          <a:solidFill>
            <a:srgbClr val="2B5F97"/>
          </a:solidFill>
        </p:spPr>
      </p:sp>
      <p:sp>
        <p:nvSpPr>
          <p:cNvPr id="30" name="Text 24"/>
          <p:cNvSpPr/>
          <p:nvPr/>
        </p:nvSpPr>
        <p:spPr>
          <a:xfrm>
            <a:off x="7744460" y="4847113"/>
            <a:ext cx="3599891" cy="471170"/>
          </a:xfrm>
          <a:prstGeom prst="rect">
            <a:avLst/>
          </a:prstGeom>
          <a:noFill/>
        </p:spPr>
        <p:txBody>
          <a:bodyPr wrap="square" lIns="0" tIns="0" rIns="0" bIns="0" rtlCol="0" anchor="t">
            <a:normAutofit/>
          </a:bodyPr>
          <a:lstStyle/>
          <a:p>
            <a:pPr marL="0" indent="0" algn="l">
              <a:lnSpc>
                <a:spcPts val="1755"/>
              </a:lnSpc>
              <a:buNone/>
            </a:pPr>
            <a:r>
              <a:rPr lang="en-US" sz="1255" b="1" dirty="0">
                <a:solidFill>
                  <a:srgbClr val="14213D"/>
                </a:solidFill>
                <a:latin typeface="Times New Roman" panose="02020603050405020304" charset="0"/>
                <a:ea typeface="IBM Plex Sans" pitchFamily="34" charset="-122"/>
                <a:cs typeface="Times New Roman" panose="02020603050405020304" charset="0"/>
              </a:rPr>
              <a:t>Adding the X-ray: AUROC +0.10, 95% CI excludes 0</a:t>
            </a:r>
            <a:endParaRPr lang="en-US" sz="1255" b="1" dirty="0">
              <a:solidFill>
                <a:srgbClr val="14213D"/>
              </a:solidFill>
              <a:latin typeface="Times New Roman" panose="02020603050405020304" charset="0"/>
              <a:ea typeface="IBM Plex Sans" pitchFamily="34" charset="-122"/>
              <a:cs typeface="Times New Roman" panose="02020603050405020304" charset="0"/>
            </a:endParaRPr>
          </a:p>
        </p:txBody>
      </p:sp>
      <p:sp>
        <p:nvSpPr>
          <p:cNvPr id="31" name="Text 25"/>
          <p:cNvSpPr/>
          <p:nvPr/>
        </p:nvSpPr>
        <p:spPr>
          <a:xfrm>
            <a:off x="7744460" y="5343685"/>
            <a:ext cx="3599891" cy="422116"/>
          </a:xfrm>
          <a:prstGeom prst="rect">
            <a:avLst/>
          </a:prstGeom>
          <a:noFill/>
        </p:spPr>
        <p:txBody>
          <a:bodyPr wrap="square" lIns="0" tIns="0" rIns="0" bIns="0" rtlCol="0" anchor="t">
            <a:normAutofit/>
          </a:bodyPr>
          <a:lstStyle/>
          <a:p>
            <a:pPr marL="0" indent="0" algn="l">
              <a:lnSpc>
                <a:spcPts val="1560"/>
              </a:lnSpc>
              <a:buNone/>
            </a:pPr>
            <a:r>
              <a:rPr lang="en-US" sz="1155" dirty="0">
                <a:solidFill>
                  <a:srgbClr val="3D4658"/>
                </a:solidFill>
                <a:latin typeface="Times New Roman" panose="02020603050405020304" charset="0"/>
                <a:ea typeface="IBM Plex Sans" pitchFamily="34" charset="-122"/>
                <a:cs typeface="Times New Roman" panose="02020603050405020304" charset="0"/>
              </a:rPr>
              <a:t>With 47 deaths, cross-attention ties late fusion (Δ −0.000, CI −0.011 to +0.011)</a:t>
            </a:r>
            <a:endParaRPr lang="en-US" sz="1155" dirty="0">
              <a:solidFill>
                <a:srgbClr val="3D4658"/>
              </a:solidFill>
              <a:latin typeface="Times New Roman" panose="02020603050405020304" charset="0"/>
              <a:ea typeface="IBM Plex Sans" pitchFamily="34" charset="-122"/>
              <a:cs typeface="Times New Roman" panose="02020603050405020304" charset="0"/>
            </a:endParaRPr>
          </a:p>
        </p:txBody>
      </p:sp>
      <p:sp>
        <p:nvSpPr>
          <p:cNvPr id="33" name="Text 27"/>
          <p:cNvSpPr/>
          <p:nvPr/>
        </p:nvSpPr>
        <p:spPr>
          <a:xfrm>
            <a:off x="10566400" y="6238241"/>
            <a:ext cx="812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280"/>
                </a:solidFill>
                <a:latin typeface="Times New Roman" panose="02020603050405020304" charset="0"/>
                <a:ea typeface="IBM Plex Sans" pitchFamily="34" charset="-122"/>
                <a:cs typeface="Times New Roman" panose="02020603050405020304" charset="0"/>
              </a:rPr>
              <a:t>3 / 3</a:t>
            </a:r>
            <a:endParaRPr lang="en-US" sz="1200" dirty="0">
              <a:solidFill>
                <a:srgbClr val="6B7280"/>
              </a:solidFill>
              <a:latin typeface="Times New Roman" panose="02020603050405020304" charset="0"/>
              <a:ea typeface="IBM Plex Sans" pitchFamily="34" charset="-122"/>
              <a:cs typeface="Times New Roman" panose="02020603050405020304" charset="0"/>
            </a:endParaRPr>
          </a:p>
        </p:txBody>
      </p:sp>
    </p:spTree>
  </p:cSld>
  <p:clrMapOvr>
    <a:masterClrMapping/>
  </p:clrMapOvr>
</p:sld>
</file>

<file path=ppt/theme/theme1.xml><?xml version="1.0" encoding="utf-8"?>
<a:theme xmlns:a="http://schemas.openxmlformats.org/drawingml/2006/main" name="MIMIC Multimodal Data Integration">
  <a:themeElements>
    <a:clrScheme name="MIMIC Multimodal Data Integration">
      <a:dk1>
        <a:srgbClr val="14213D"/>
      </a:dk1>
      <a:lt1>
        <a:srgbClr val="F7F6F2"/>
      </a:lt1>
      <a:dk2>
        <a:srgbClr val="4D566A"/>
      </a:dk2>
      <a:lt2>
        <a:srgbClr val="E0E1E0"/>
      </a:lt2>
      <a:accent1>
        <a:srgbClr val="9C4F14"/>
      </a:accent1>
      <a:accent2>
        <a:srgbClr val="2B5F97"/>
      </a:accent2>
      <a:accent3>
        <a:srgbClr val="3D4658"/>
      </a:accent3>
      <a:accent4>
        <a:srgbClr val="DCD8CD"/>
      </a:accent4>
      <a:accent5>
        <a:srgbClr val="6B7280"/>
      </a:accent5>
      <a:accent6>
        <a:srgbClr val="5C6475"/>
      </a:accent6>
      <a:hlink>
        <a:srgbClr val="0563C1"/>
      </a:hlink>
      <a:folHlink>
        <a:srgbClr val="954F72"/>
      </a:folHlink>
    </a:clrScheme>
    <a:fontScheme name="MIMIC Multimodal Data Integr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MIC Multimodal Data Integration">
  <a:themeElements>
    <a:clrScheme name="MIMIC Multimodal Data Integration">
      <a:dk1>
        <a:srgbClr val="14213D"/>
      </a:dk1>
      <a:lt1>
        <a:srgbClr val="F7F6F2"/>
      </a:lt1>
      <a:dk2>
        <a:srgbClr val="4D566A"/>
      </a:dk2>
      <a:lt2>
        <a:srgbClr val="E0E1E0"/>
      </a:lt2>
      <a:accent1>
        <a:srgbClr val="9C4F14"/>
      </a:accent1>
      <a:accent2>
        <a:srgbClr val="2B5F97"/>
      </a:accent2>
      <a:accent3>
        <a:srgbClr val="3D4658"/>
      </a:accent3>
      <a:accent4>
        <a:srgbClr val="DCD8CD"/>
      </a:accent4>
      <a:accent5>
        <a:srgbClr val="6B7280"/>
      </a:accent5>
      <a:accent6>
        <a:srgbClr val="5C6475"/>
      </a:accent6>
      <a:hlink>
        <a:srgbClr val="0563C1"/>
      </a:hlink>
      <a:folHlink>
        <a:srgbClr val="954F72"/>
      </a:folHlink>
    </a:clrScheme>
    <a:fontScheme name="MIMIC Multimodal Data Integr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2961</Words>
  <Application>WPS 演示</Application>
  <PresentationFormat>On-screen Show (16:9)</PresentationFormat>
  <Paragraphs>196</Paragraphs>
  <Slides>3</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vt:i4>
      </vt:variant>
    </vt:vector>
  </HeadingPairs>
  <TitlesOfParts>
    <vt:vector size="16" baseType="lpstr">
      <vt:lpstr>Arial</vt:lpstr>
      <vt:lpstr>宋体</vt:lpstr>
      <vt:lpstr>Wingdings</vt:lpstr>
      <vt:lpstr>IBM Plex Sans</vt:lpstr>
      <vt:lpstr>Segoe Print</vt:lpstr>
      <vt:lpstr>IBM Plex Sans</vt:lpstr>
      <vt:lpstr>IBM Plex Sans</vt:lpstr>
      <vt:lpstr>MingLiU-ExtB</vt:lpstr>
      <vt:lpstr>Times New Roman</vt:lpstr>
      <vt:lpstr>微软雅黑</vt:lpstr>
      <vt:lpstr>Arial Unicode MS</vt:lpstr>
      <vt:lpstr>Calibri</vt:lpstr>
      <vt:lpstr>MIMIC Multimodal Data Integration</vt:lpstr>
      <vt:lpstr>Data integration (1): one embedding per modality</vt:lpstr>
      <vt:lpstr>Data processing behind the embeddings</vt:lpstr>
      <vt:lpstr>Data integration (2): two-stage fusion into a joint embedding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MIMIC Multimodal Data Integration</dc:title>
  <dc:creator/>
  <cp:lastModifiedBy>Flag　Fly</cp:lastModifiedBy>
  <cp:revision>3</cp:revision>
  <dcterms:created xsi:type="dcterms:W3CDTF">2026-10-03T10:24:00Z</dcterms:created>
  <dcterms:modified xsi:type="dcterms:W3CDTF">2026-10-04T07:36:46Z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D94C7D330DA84E559D9D6794F4CEC6F2_12</vt:lpwstr>
  </property>
  <property fmtid="{D5CDD505-2E9C-101B-9397-08002B2CF9AE}" pid="3" name="KSOProductBuildVer">
    <vt:lpwstr>2052-12.1.0.26899</vt:lpwstr>
  </property>
</Properties>
</file>